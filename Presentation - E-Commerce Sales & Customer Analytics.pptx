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7" r:id="rId3"/>
    <p:sldId id="268" r:id="rId4"/>
    <p:sldId id="269" r:id="rId5"/>
    <p:sldId id="258" r:id="rId6"/>
    <p:sldId id="259" r:id="rId7"/>
    <p:sldId id="260" r:id="rId8"/>
    <p:sldId id="261" r:id="rId9"/>
    <p:sldId id="262" r:id="rId10"/>
    <p:sldId id="263"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cy Bobas" userId="ca5ce81971c39fd9" providerId="LiveId" clId="{72D93918-A026-4523-9FB5-DD8127146DA6}"/>
    <pc:docChg chg="modSld">
      <pc:chgData name="Bency Bobas" userId="ca5ce81971c39fd9" providerId="LiveId" clId="{72D93918-A026-4523-9FB5-DD8127146DA6}" dt="2026-10-08T04:34:07.212" v="1" actId="20577"/>
      <pc:docMkLst>
        <pc:docMk/>
      </pc:docMkLst>
      <pc:sldChg chg="modSp mod">
        <pc:chgData name="Bency Bobas" userId="ca5ce81971c39fd9" providerId="LiveId" clId="{72D93918-A026-4523-9FB5-DD8127146DA6}" dt="2026-10-08T04:34:07.212" v="1" actId="20577"/>
        <pc:sldMkLst>
          <pc:docMk/>
          <pc:sldMk cId="0" sldId="256"/>
        </pc:sldMkLst>
        <pc:spChg chg="mod">
          <ac:chgData name="Bency Bobas" userId="ca5ce81971c39fd9" providerId="LiveId" clId="{72D93918-A026-4523-9FB5-DD8127146DA6}" dt="2026-10-08T04:34:07.212" v="1" actId="20577"/>
          <ac:spMkLst>
            <pc:docMk/>
            <pc:sldMk cId="0" sldId="256"/>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906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Welcome slide. Introduce the team and the project scope: a complete analytics case study covering data cleaning, business analysis, SQL, Python and a Power BI dashboard, built on an 18,000-order e-commerce dataset.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Total sales across all 18,000 orders is ₹10,04,51,357.55 with an average order value of ₹5,580.63. Beauty and Fashion lead category sales; the top five products are led by Moisturizer and Shampoo.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Monthly sales show no sustained seasonal trend. Regular customers place the most orders, and Mumbai leads city-wise sales, closely followed by Chennai and Kolkata.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Deeper discounts correlate with lower average order value, suggesting discounts attract smaller baskets rather than driving larger ones. Product demand is fairly even, with a narrow gap between the most and least popular items.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Overall, 12.24% of orders are cancelled or returned. Sports has the highest cancellation rate at 13.69%, while Beauty has the lowest at 11.07% — worth investigating fulfillment or sizing/fit issues in Sports.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Page 1, Executive Overview, gives management the headline KPIs and the monthly trend at a glance. Page 2, Product Performance, lets them drill from category share down to individual product rank.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Page 3, Customer Analysis, breaks sales and order value down by segment and surfaces top customers. Page 4, Location &amp; Sales Analysis, maps sales by city and state alongside cancellation rate by category and discount-band performance — all filterable by region.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These six findings summarize what the analysis uncovered: strong category and location concentration, stable demand, a discount strategy that may be eroding order value, and an elevated cancellation rate in Sports.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Five concrete, data-backed actions management can take, each traced directly to a finding from the analysis.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Close with thanks to the team and to NeST Digital Academy, and an invitation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70711"/>
            <a:ext cx="10566400" cy="417448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Rubik" pitchFamily="34" charset="0"/>
                <a:ea typeface="Rubik" pitchFamily="34" charset="-122"/>
                <a:cs typeface="Rubik"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70711"/>
            <a:ext cx="10566400" cy="417448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213D"/>
              </a:gs>
              <a:gs pos="60000">
                <a:srgbClr val="1C2E52"/>
              </a:gs>
              <a:gs pos="100000">
                <a:srgbClr val="0F2A4A"/>
              </a:gs>
            </a:gsLst>
            <a:lin ang="2700000" scaled="0"/>
          </a:gradFill>
          <a:ln/>
        </p:spPr>
        <p:txBody>
          <a:bodyPr/>
          <a:lstStyle/>
          <a:p>
            <a:endParaRPr lang="en-IN"/>
          </a:p>
        </p:txBody>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6FA8F5"/>
                </a:solidFill>
                <a:latin typeface="Rubik" pitchFamily="34" charset="0"/>
                <a:ea typeface="Rubik" pitchFamily="34" charset="-122"/>
                <a:cs typeface="Rubik" pitchFamily="34" charset="-120"/>
              </a:rPr>
              <a:t>GROUP 2  ·  DATA ANALYTICS CASE STUDY</a:t>
            </a:r>
            <a:endParaRPr lang="en-US" sz="1400" dirty="0"/>
          </a:p>
        </p:txBody>
      </p:sp>
      <p:sp>
        <p:nvSpPr>
          <p:cNvPr id="4" name="Text 2"/>
          <p:cNvSpPr>
            <a:spLocks noGrp="1"/>
          </p:cNvSpPr>
          <p:nvPr>
            <p:ph type="title"/>
          </p:nvPr>
        </p:nvSpPr>
        <p:spPr>
          <a:xfrm>
            <a:off x="812800" y="1239520"/>
            <a:ext cx="9810750" cy="1561465"/>
          </a:xfrm>
          <a:prstGeom prst="rect">
            <a:avLst/>
          </a:prstGeom>
          <a:noFill/>
          <a:ln/>
        </p:spPr>
        <p:txBody>
          <a:bodyPr wrap="square" lIns="0" tIns="0" rIns="0" bIns="0" rtlCol="0" anchor="t">
            <a:normAutofit/>
          </a:bodyPr>
          <a:lstStyle/>
          <a:p>
            <a:pPr marL="0" indent="0" algn="l">
              <a:lnSpc>
                <a:spcPts val="6048"/>
              </a:lnSpc>
              <a:buNone/>
            </a:pPr>
            <a:r>
              <a:rPr lang="en-US" sz="5600" b="1" i="0" dirty="0">
                <a:solidFill>
                  <a:srgbClr val="FBFBF8"/>
                </a:solidFill>
                <a:latin typeface="Rubik" pitchFamily="34" charset="0"/>
                <a:ea typeface="Rubik" pitchFamily="34" charset="-122"/>
                <a:cs typeface="Rubik" pitchFamily="34" charset="-120"/>
              </a:rPr>
              <a:t>E-Commerce Sales &amp; Customer Analytics</a:t>
            </a:r>
            <a:endParaRPr lang="en-US" sz="5600" dirty="0"/>
          </a:p>
        </p:txBody>
      </p:sp>
      <p:sp>
        <p:nvSpPr>
          <p:cNvPr id="5" name="Text 3"/>
          <p:cNvSpPr/>
          <p:nvPr/>
        </p:nvSpPr>
        <p:spPr>
          <a:xfrm>
            <a:off x="812800" y="2953385"/>
            <a:ext cx="850265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3D2EA"/>
                </a:solidFill>
                <a:latin typeface="IBM Plex Sans" pitchFamily="34" charset="0"/>
                <a:ea typeface="IBM Plex Sans" pitchFamily="34" charset="-122"/>
                <a:cs typeface="IBM Plex Sans" pitchFamily="34" charset="-120"/>
              </a:rPr>
              <a:t>A full-cycle data analytics project — from raw data cleaning to business insight, SQL validation, statistical analysis and an interactive dashboard.</a:t>
            </a:r>
            <a:endParaRPr lang="en-US" sz="1700" dirty="0"/>
          </a:p>
        </p:txBody>
      </p:sp>
      <p:sp>
        <p:nvSpPr>
          <p:cNvPr id="6" name="Text 4"/>
          <p:cNvSpPr/>
          <p:nvPr/>
        </p:nvSpPr>
        <p:spPr>
          <a:xfrm>
            <a:off x="812800" y="5501640"/>
            <a:ext cx="464228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A6CC"/>
                </a:solidFill>
                <a:latin typeface="IBM Plex Sans" pitchFamily="34" charset="0"/>
                <a:ea typeface="IBM Plex Sans" pitchFamily="34" charset="-122"/>
                <a:cs typeface="IBM Plex Sans" pitchFamily="34" charset="-120"/>
              </a:rPr>
              <a:t>TEAM</a:t>
            </a:r>
            <a:endParaRPr lang="en-US" sz="1200" dirty="0"/>
          </a:p>
        </p:txBody>
      </p:sp>
      <p:sp>
        <p:nvSpPr>
          <p:cNvPr id="7" name="Text 5"/>
          <p:cNvSpPr/>
          <p:nvPr/>
        </p:nvSpPr>
        <p:spPr>
          <a:xfrm>
            <a:off x="812800" y="5778500"/>
            <a:ext cx="540848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IBM Plex Sans" pitchFamily="34" charset="0"/>
                <a:ea typeface="IBM Plex Sans" pitchFamily="34" charset="-122"/>
                <a:cs typeface="IBM Plex Sans" pitchFamily="34" charset="-120"/>
              </a:rPr>
              <a:t>Adithyan PS  ·  Bency Bobas  ·  Bibin T S  ·  Dalu Alex</a:t>
            </a:r>
            <a:endParaRPr lang="en-US" sz="1500" dirty="0"/>
          </a:p>
        </p:txBody>
      </p:sp>
      <p:sp>
        <p:nvSpPr>
          <p:cNvPr id="8" name="Text 6"/>
          <p:cNvSpPr/>
          <p:nvPr/>
        </p:nvSpPr>
        <p:spPr>
          <a:xfrm>
            <a:off x="10140950" y="5519420"/>
            <a:ext cx="1238250" cy="238760"/>
          </a:xfrm>
          <a:prstGeom prst="rect">
            <a:avLst/>
          </a:prstGeom>
          <a:noFill/>
          <a:ln/>
        </p:spPr>
        <p:txBody>
          <a:bodyPr wrap="square" lIns="0" tIns="0" rIns="0" bIns="0" rtlCol="0" anchor="t">
            <a:normAutofit/>
          </a:bodyPr>
          <a:lstStyle/>
          <a:p>
            <a:pPr marL="0" indent="0" algn="r">
              <a:lnSpc>
                <a:spcPts val="1680"/>
              </a:lnSpc>
              <a:buNone/>
            </a:pPr>
            <a:r>
              <a:rPr lang="en-US" sz="1200" b="1" kern="0" spc="100" dirty="0">
                <a:solidFill>
                  <a:srgbClr val="8FA6CC"/>
                </a:solidFill>
                <a:latin typeface="IBM Plex Sans" pitchFamily="34" charset="0"/>
                <a:ea typeface="IBM Plex Sans" pitchFamily="34" charset="-122"/>
                <a:cs typeface="IBM Plex Sans" pitchFamily="34" charset="-120"/>
              </a:rPr>
              <a:t>TOOLS USED</a:t>
            </a:r>
            <a:endParaRPr lang="en-US" sz="1200" dirty="0"/>
          </a:p>
        </p:txBody>
      </p:sp>
      <p:sp>
        <p:nvSpPr>
          <p:cNvPr id="9" name="Text 7"/>
          <p:cNvSpPr/>
          <p:nvPr/>
        </p:nvSpPr>
        <p:spPr>
          <a:xfrm>
            <a:off x="7438946" y="5796280"/>
            <a:ext cx="472830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BFBF8"/>
                </a:solidFill>
                <a:latin typeface="IBM Plex Sans" pitchFamily="34" charset="0"/>
                <a:ea typeface="IBM Plex Sans" pitchFamily="34" charset="-122"/>
                <a:cs typeface="IBM Plex Sans" pitchFamily="34" charset="-120"/>
              </a:rPr>
              <a:t>  Excel · Power Query · MySQL · Python · Power BI</a:t>
            </a:r>
            <a:endParaRPr lang="en-US" sz="1400" dirty="0"/>
          </a:p>
        </p:txBody>
      </p:sp>
      <p:sp>
        <p:nvSpPr>
          <p:cNvPr id="10" name="Shape 8"/>
          <p:cNvSpPr/>
          <p:nvPr/>
        </p:nvSpPr>
        <p:spPr>
          <a:xfrm>
            <a:off x="10007600" y="406400"/>
            <a:ext cx="1778000" cy="609600"/>
          </a:xfrm>
          <a:prstGeom prst="roundRect">
            <a:avLst>
              <a:gd name="adj" fmla="val 16667"/>
            </a:avLst>
          </a:prstGeom>
          <a:solidFill>
            <a:srgbClr val="FBFBF8"/>
          </a:solidFill>
          <a:ln/>
        </p:spPr>
        <p:txBody>
          <a:bodyPr/>
          <a:lstStyle/>
          <a:p>
            <a:endParaRPr lang="en-IN"/>
          </a:p>
        </p:txBody>
      </p:sp>
      <p:pic>
        <p:nvPicPr>
          <p:cNvPr id="11" name="Image 0" descr="NeST Digital logo"/>
          <p:cNvPicPr>
            <a:picLocks noChangeAspect="1"/>
          </p:cNvPicPr>
          <p:nvPr/>
        </p:nvPicPr>
        <p:blipFill>
          <a:blip r:embed="rId3"/>
          <a:srcRect l="-20196" r="-20196"/>
          <a:stretch/>
        </p:blipFill>
        <p:spPr>
          <a:xfrm>
            <a:off x="10096500" y="495300"/>
            <a:ext cx="1600200" cy="431800"/>
          </a:xfrm>
          <a:prstGeom prst="rect">
            <a:avLst/>
          </a:prstGeom>
        </p:spPr>
      </p:pic>
      <p:sp>
        <p:nvSpPr>
          <p:cNvPr id="12" name="Text 9"/>
          <p:cNvSpPr/>
          <p:nvPr/>
        </p:nvSpPr>
        <p:spPr>
          <a:xfrm>
            <a:off x="812800" y="6256020"/>
            <a:ext cx="263471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6B7FA5"/>
                </a:solidFill>
                <a:latin typeface="IBM Plex Sans" pitchFamily="34" charset="0"/>
                <a:ea typeface="IBM Plex Sans" pitchFamily="34" charset="-122"/>
                <a:cs typeface="IBM Plex Sans" pitchFamily="34" charset="-120"/>
              </a:rPr>
              <a:t>Prepared for NeST Digital Academy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2800" y="812800"/>
            <a:ext cx="10566400" cy="238760"/>
          </a:xfrm>
          <a:prstGeom prst="rect">
            <a:avLst/>
          </a:prstGeom>
          <a:noFill/>
        </p:spPr>
        <p:txBody>
          <a:bodyPr wrap="square" lIns="0" tIns="0" rIns="0" bIns="0">
            <a:noAutofit/>
          </a:bodyPr>
          <a:lstStyle/>
          <a:p>
            <a:pPr algn="l"/>
            <a:r>
              <a:rPr sz="1200" b="1">
                <a:solidFill>
                  <a:srgbClr val="2F6FED"/>
                </a:solidFill>
                <a:latin typeface="Rubik"/>
              </a:rPr>
              <a:t>PROJECT OVERVIEW</a:t>
            </a:r>
          </a:p>
        </p:txBody>
      </p:sp>
      <p:sp>
        <p:nvSpPr>
          <p:cNvPr id="3" name="TextBox 2"/>
          <p:cNvSpPr txBox="1"/>
          <p:nvPr/>
        </p:nvSpPr>
        <p:spPr>
          <a:xfrm>
            <a:off x="812800" y="1127761"/>
            <a:ext cx="10566400" cy="463550"/>
          </a:xfrm>
          <a:prstGeom prst="rect">
            <a:avLst/>
          </a:prstGeom>
          <a:noFill/>
        </p:spPr>
        <p:txBody>
          <a:bodyPr wrap="square" lIns="0" tIns="0" rIns="0" bIns="0">
            <a:noAutofit/>
          </a:bodyPr>
          <a:lstStyle/>
          <a:p>
            <a:pPr algn="l"/>
            <a:r>
              <a:rPr sz="3000" b="1">
                <a:solidFill>
                  <a:srgbClr val="14213D"/>
                </a:solidFill>
                <a:latin typeface="Rubik"/>
              </a:rPr>
              <a:t>Problem Statement</a:t>
            </a:r>
          </a:p>
        </p:txBody>
      </p:sp>
      <p:sp>
        <p:nvSpPr>
          <p:cNvPr id="4" name="TextBox 3"/>
          <p:cNvSpPr txBox="1"/>
          <p:nvPr/>
        </p:nvSpPr>
        <p:spPr>
          <a:xfrm>
            <a:off x="812800" y="1819911"/>
            <a:ext cx="6553200" cy="4022090"/>
          </a:xfrm>
          <a:prstGeom prst="rect">
            <a:avLst/>
          </a:prstGeom>
          <a:noFill/>
        </p:spPr>
        <p:txBody>
          <a:bodyPr wrap="square" lIns="0" tIns="0" rIns="0" bIns="0">
            <a:noAutofit/>
          </a:bodyPr>
          <a:lstStyle/>
          <a:p>
            <a:pPr algn="l">
              <a:lnSpc>
                <a:spcPct val="135000"/>
              </a:lnSpc>
              <a:spcAft>
                <a:spcPts val="1400"/>
              </a:spcAft>
            </a:pPr>
            <a:r>
              <a:rPr sz="1300" b="0" i="0" dirty="0">
                <a:solidFill>
                  <a:srgbClr val="2D3B52"/>
                </a:solidFill>
                <a:latin typeface="IBM Plex Sans"/>
              </a:rPr>
              <a:t>The e-commerce company has data spread across multiple files, making it difficult to understand sales performance, customer behavior, product performance, and discount effectiveness. The project aims to clean, analyze, and visualize the data to identify key business insights and support better decision-making.</a:t>
            </a:r>
          </a:p>
          <a:p>
            <a:pPr algn="l">
              <a:lnSpc>
                <a:spcPct val="135000"/>
              </a:lnSpc>
              <a:spcAft>
                <a:spcPts val="2400"/>
              </a:spcAft>
            </a:pPr>
            <a:r>
              <a:rPr sz="1300" b="0" i="0" dirty="0">
                <a:solidFill>
                  <a:srgbClr val="2D3B52"/>
                </a:solidFill>
                <a:latin typeface="IBM Plex Sans"/>
              </a:rPr>
              <a:t>The dataset contains 4 interconnected e-commerce tables covering 4,010 customers, 18,020 orders, 30 products, and 8 locations across India for 2025. After data cleaning, 4,000 customers and 18,000 orders were used for analysis</a:t>
            </a:r>
          </a:p>
          <a:p>
            <a:pPr algn="l">
              <a:lnSpc>
                <a:spcPct val="135000"/>
              </a:lnSpc>
              <a:spcAft>
                <a:spcPts val="1000"/>
              </a:spcAft>
            </a:pPr>
            <a:r>
              <a:rPr sz="1100" b="0" i="1" dirty="0">
                <a:solidFill>
                  <a:srgbClr val="5A6B85"/>
                </a:solidFill>
                <a:latin typeface="IBM Plex Sans"/>
              </a:rPr>
              <a:t>Analysis performed using Excel, SQL and Python; results presented through an interactive Power BI dashboard.</a:t>
            </a:r>
          </a:p>
        </p:txBody>
      </p:sp>
      <p:sp>
        <p:nvSpPr>
          <p:cNvPr id="5" name="Rounded Rectangle 4"/>
          <p:cNvSpPr/>
          <p:nvPr/>
        </p:nvSpPr>
        <p:spPr>
          <a:xfrm>
            <a:off x="7670800" y="1464906"/>
            <a:ext cx="3708400" cy="4377095"/>
          </a:xfrm>
          <a:prstGeom prst="roundRect">
            <a:avLst>
              <a:gd name="adj" fmla="val 375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noAutofit/>
          </a:bodyPr>
          <a:lstStyle/>
          <a:p>
            <a:pPr algn="l">
              <a:lnSpc>
                <a:spcPct val="135000"/>
              </a:lnSpc>
              <a:spcAft>
                <a:spcPts val="1600"/>
              </a:spcAft>
            </a:pPr>
            <a:r>
              <a:rPr sz="1500" b="1" i="0" dirty="0">
                <a:solidFill>
                  <a:srgbClr val="FBFBF8"/>
                </a:solidFill>
                <a:latin typeface="IBM Plex Sans"/>
              </a:rPr>
              <a:t>Objectives :</a:t>
            </a:r>
          </a:p>
          <a:p>
            <a:pPr marL="182880" indent="-182880" algn="l">
              <a:lnSpc>
                <a:spcPct val="125000"/>
              </a:lnSpc>
              <a:spcAft>
                <a:spcPts val="1200"/>
              </a:spcAft>
              <a:buFont typeface="Arial"/>
              <a:buChar char="•"/>
            </a:pPr>
            <a:r>
              <a:rPr sz="1300" dirty="0">
                <a:solidFill>
                  <a:srgbClr val="C3D2EA"/>
                </a:solidFill>
                <a:latin typeface="IBM Plex Sans"/>
              </a:rPr>
              <a:t>Data cleaning &amp; validation</a:t>
            </a:r>
          </a:p>
          <a:p>
            <a:pPr marL="182880" indent="-182880" algn="l">
              <a:lnSpc>
                <a:spcPct val="125000"/>
              </a:lnSpc>
              <a:spcAft>
                <a:spcPts val="1200"/>
              </a:spcAft>
              <a:buFont typeface="Arial"/>
              <a:buChar char="•"/>
            </a:pPr>
            <a:r>
              <a:rPr sz="1300" dirty="0">
                <a:solidFill>
                  <a:srgbClr val="C3D2EA"/>
                </a:solidFill>
                <a:latin typeface="IBM Plex Sans"/>
              </a:rPr>
              <a:t>Sales &amp; customer analysis</a:t>
            </a:r>
          </a:p>
          <a:p>
            <a:pPr marL="182880" indent="-182880" algn="l">
              <a:lnSpc>
                <a:spcPct val="125000"/>
              </a:lnSpc>
              <a:spcAft>
                <a:spcPts val="1200"/>
              </a:spcAft>
              <a:buFont typeface="Arial"/>
              <a:buChar char="•"/>
            </a:pPr>
            <a:r>
              <a:rPr sz="1300" dirty="0">
                <a:solidFill>
                  <a:srgbClr val="C3D2EA"/>
                </a:solidFill>
                <a:latin typeface="IBM Plex Sans"/>
              </a:rPr>
              <a:t>Product &amp; category performance</a:t>
            </a:r>
          </a:p>
          <a:p>
            <a:pPr marL="182880" indent="-182880" algn="l">
              <a:lnSpc>
                <a:spcPct val="125000"/>
              </a:lnSpc>
              <a:spcAft>
                <a:spcPts val="1200"/>
              </a:spcAft>
              <a:buFont typeface="Arial"/>
              <a:buChar char="•"/>
            </a:pPr>
            <a:r>
              <a:rPr sz="1300" dirty="0">
                <a:solidFill>
                  <a:srgbClr val="C3D2EA"/>
                </a:solidFill>
                <a:latin typeface="IBM Plex Sans"/>
              </a:rPr>
              <a:t>Location &amp; segment analysis</a:t>
            </a:r>
          </a:p>
          <a:p>
            <a:pPr marL="182880" indent="-182880" algn="l">
              <a:lnSpc>
                <a:spcPct val="125000"/>
              </a:lnSpc>
              <a:spcAft>
                <a:spcPts val="1200"/>
              </a:spcAft>
              <a:buFont typeface="Arial"/>
              <a:buChar char="•"/>
            </a:pPr>
            <a:r>
              <a:rPr sz="1300" dirty="0">
                <a:solidFill>
                  <a:srgbClr val="C3D2EA"/>
                </a:solidFill>
                <a:latin typeface="IBM Plex Sans"/>
              </a:rPr>
              <a:t>Discount impact analysis</a:t>
            </a:r>
          </a:p>
          <a:p>
            <a:pPr marL="182880" indent="-182880" algn="l">
              <a:lnSpc>
                <a:spcPct val="125000"/>
              </a:lnSpc>
              <a:spcAft>
                <a:spcPts val="1200"/>
              </a:spcAft>
              <a:buFont typeface="Arial"/>
              <a:buChar char="•"/>
            </a:pPr>
            <a:r>
              <a:rPr sz="1300" dirty="0">
                <a:solidFill>
                  <a:srgbClr val="C3D2EA"/>
                </a:solidFill>
                <a:latin typeface="IBM Plex Sans"/>
              </a:rPr>
              <a:t>Dashboard &amp; KPI development</a:t>
            </a:r>
          </a:p>
          <a:p>
            <a:pPr marL="182880" indent="-182880" algn="l">
              <a:lnSpc>
                <a:spcPct val="125000"/>
              </a:lnSpc>
              <a:spcAft>
                <a:spcPts val="1200"/>
              </a:spcAft>
              <a:buFont typeface="Arial"/>
              <a:buChar char="•"/>
            </a:pPr>
            <a:r>
              <a:rPr sz="1300" dirty="0">
                <a:solidFill>
                  <a:srgbClr val="C3D2EA"/>
                </a:solidFill>
                <a:latin typeface="IBM Plex Sans"/>
              </a:rPr>
              <a:t>Data-driven recommendations</a:t>
            </a:r>
          </a:p>
        </p:txBody>
      </p:sp>
      <p:sp>
        <p:nvSpPr>
          <p:cNvPr id="6" name="TextBox 5"/>
          <p:cNvSpPr txBox="1"/>
          <p:nvPr/>
        </p:nvSpPr>
        <p:spPr>
          <a:xfrm>
            <a:off x="812800" y="6238239"/>
            <a:ext cx="4169855" cy="238760"/>
          </a:xfrm>
          <a:prstGeom prst="rect">
            <a:avLst/>
          </a:prstGeom>
          <a:noFill/>
        </p:spPr>
        <p:txBody>
          <a:bodyPr wrap="square" lIns="0" tIns="0" rIns="0" bIns="0">
            <a:noAutofit/>
          </a:bodyPr>
          <a:lstStyle/>
          <a:p>
            <a:pPr algn="l"/>
            <a:r>
              <a:rPr sz="1200">
                <a:solidFill>
                  <a:srgbClr val="8A94A6"/>
                </a:solidFill>
                <a:latin typeface="IBM Plex Sans"/>
              </a:rPr>
              <a:t>E-Commerce Sales &amp; Customer Analytics · Group 2</a:t>
            </a:r>
          </a:p>
        </p:txBody>
      </p:sp>
      <p:sp>
        <p:nvSpPr>
          <p:cNvPr id="7" name="TextBox 6"/>
          <p:cNvSpPr txBox="1"/>
          <p:nvPr/>
        </p:nvSpPr>
        <p:spPr>
          <a:xfrm>
            <a:off x="11196320" y="6238239"/>
            <a:ext cx="233680" cy="238760"/>
          </a:xfrm>
          <a:prstGeom prst="rect">
            <a:avLst/>
          </a:prstGeom>
          <a:noFill/>
        </p:spPr>
        <p:txBody>
          <a:bodyPr wrap="square" lIns="0" tIns="0" rIns="0" bIns="0">
            <a:noAutofit/>
          </a:bodyPr>
          <a:lstStyle/>
          <a:p>
            <a:pPr algn="r"/>
            <a:r>
              <a:rPr sz="1200">
                <a:solidFill>
                  <a:srgbClr val="8A94A6"/>
                </a:solidFill>
                <a:latin typeface="IBM Plex Sans"/>
              </a:rPr>
              <a:t>02</a:t>
            </a:r>
          </a:p>
        </p:txBody>
      </p:sp>
    </p:spTree>
    <p:extLst>
      <p:ext uri="{BB962C8B-B14F-4D97-AF65-F5344CB8AC3E}">
        <p14:creationId xmlns:p14="http://schemas.microsoft.com/office/powerpoint/2010/main" val="3809973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2800" y="812800"/>
            <a:ext cx="10566400" cy="238760"/>
          </a:xfrm>
          <a:prstGeom prst="rect">
            <a:avLst/>
          </a:prstGeom>
          <a:noFill/>
        </p:spPr>
        <p:txBody>
          <a:bodyPr wrap="square" lIns="0" tIns="0" rIns="0" bIns="0">
            <a:noAutofit/>
          </a:bodyPr>
          <a:lstStyle/>
          <a:p>
            <a:pPr algn="l"/>
            <a:r>
              <a:rPr sz="1200" b="1">
                <a:solidFill>
                  <a:srgbClr val="2F6FED"/>
                </a:solidFill>
                <a:latin typeface="Rubik"/>
              </a:rPr>
              <a:t>DATASET</a:t>
            </a:r>
          </a:p>
        </p:txBody>
      </p:sp>
      <p:sp>
        <p:nvSpPr>
          <p:cNvPr id="3" name="TextBox 2"/>
          <p:cNvSpPr txBox="1"/>
          <p:nvPr/>
        </p:nvSpPr>
        <p:spPr>
          <a:xfrm>
            <a:off x="812800" y="1127761"/>
            <a:ext cx="10566400" cy="463550"/>
          </a:xfrm>
          <a:prstGeom prst="rect">
            <a:avLst/>
          </a:prstGeom>
          <a:noFill/>
        </p:spPr>
        <p:txBody>
          <a:bodyPr wrap="square" lIns="0" tIns="0" rIns="0" bIns="0">
            <a:noAutofit/>
          </a:bodyPr>
          <a:lstStyle/>
          <a:p>
            <a:pPr algn="l"/>
            <a:r>
              <a:rPr sz="3000" b="1" dirty="0">
                <a:solidFill>
                  <a:srgbClr val="14213D"/>
                </a:solidFill>
                <a:latin typeface="Rubik"/>
              </a:rPr>
              <a:t>Dataset Overview</a:t>
            </a:r>
          </a:p>
        </p:txBody>
      </p:sp>
      <p:graphicFrame>
        <p:nvGraphicFramePr>
          <p:cNvPr id="4" name="Table 3"/>
          <p:cNvGraphicFramePr>
            <a:graphicFrameLocks noGrp="1"/>
          </p:cNvGraphicFramePr>
          <p:nvPr>
            <p:extLst>
              <p:ext uri="{D42A27DB-BD31-4B8C-83A1-F6EECF244321}">
                <p14:modId xmlns:p14="http://schemas.microsoft.com/office/powerpoint/2010/main" val="3070243596"/>
              </p:ext>
            </p:extLst>
          </p:nvPr>
        </p:nvGraphicFramePr>
        <p:xfrm>
          <a:off x="812799" y="1819910"/>
          <a:ext cx="10566399" cy="3878576"/>
        </p:xfrm>
        <a:graphic>
          <a:graphicData uri="http://schemas.openxmlformats.org/drawingml/2006/table">
            <a:tbl>
              <a:tblPr/>
              <a:tblGrid>
                <a:gridCol w="2324608">
                  <a:extLst>
                    <a:ext uri="{9D8B030D-6E8A-4147-A177-3AD203B41FA5}">
                      <a16:colId xmlns:a16="http://schemas.microsoft.com/office/drawing/2014/main" val="20000"/>
                    </a:ext>
                  </a:extLst>
                </a:gridCol>
                <a:gridCol w="2113280">
                  <a:extLst>
                    <a:ext uri="{9D8B030D-6E8A-4147-A177-3AD203B41FA5}">
                      <a16:colId xmlns:a16="http://schemas.microsoft.com/office/drawing/2014/main" val="20001"/>
                    </a:ext>
                  </a:extLst>
                </a:gridCol>
                <a:gridCol w="6128511">
                  <a:extLst>
                    <a:ext uri="{9D8B030D-6E8A-4147-A177-3AD203B41FA5}">
                      <a16:colId xmlns:a16="http://schemas.microsoft.com/office/drawing/2014/main" val="20002"/>
                    </a:ext>
                  </a:extLst>
                </a:gridCol>
              </a:tblGrid>
              <a:tr h="467054">
                <a:tc>
                  <a:txBody>
                    <a:bodyPr/>
                    <a:lstStyle/>
                    <a:p>
                      <a:pPr algn="l"/>
                      <a:r>
                        <a:rPr sz="1200" b="1">
                          <a:solidFill>
                            <a:srgbClr val="FBFBF8"/>
                          </a:solidFill>
                          <a:latin typeface="IBM Plex Sans"/>
                        </a:rPr>
                        <a:t>Dataset / Table</a:t>
                      </a:r>
                    </a:p>
                  </a:txBody>
                  <a:tcPr marL="114300" marR="114300" marT="68580" marB="68580" anchor="ctr">
                    <a:solidFill>
                      <a:srgbClr val="14213D"/>
                    </a:solidFill>
                  </a:tcPr>
                </a:tc>
                <a:tc>
                  <a:txBody>
                    <a:bodyPr/>
                    <a:lstStyle/>
                    <a:p>
                      <a:pPr algn="l"/>
                      <a:r>
                        <a:rPr sz="1200" b="1">
                          <a:solidFill>
                            <a:srgbClr val="FBFBF8"/>
                          </a:solidFill>
                          <a:latin typeface="IBM Plex Sans"/>
                        </a:rPr>
                        <a:t>Records</a:t>
                      </a:r>
                    </a:p>
                  </a:txBody>
                  <a:tcPr marL="114300" marR="114300" marT="68580" marB="68580" anchor="ctr">
                    <a:solidFill>
                      <a:srgbClr val="14213D"/>
                    </a:solidFill>
                  </a:tcPr>
                </a:tc>
                <a:tc>
                  <a:txBody>
                    <a:bodyPr/>
                    <a:lstStyle/>
                    <a:p>
                      <a:pPr algn="l"/>
                      <a:r>
                        <a:rPr sz="1200" b="1" dirty="0">
                          <a:solidFill>
                            <a:srgbClr val="FBFBF8"/>
                          </a:solidFill>
                          <a:latin typeface="IBM Plex Sans"/>
                        </a:rPr>
                        <a:t>Key Information</a:t>
                      </a:r>
                    </a:p>
                  </a:txBody>
                  <a:tcPr marL="114300" marR="114300" marT="68580" marB="68580" anchor="ctr">
                    <a:solidFill>
                      <a:srgbClr val="14213D"/>
                    </a:solidFill>
                  </a:tcPr>
                </a:tc>
                <a:extLst>
                  <a:ext uri="{0D108BD9-81ED-4DB2-BD59-A6C34878D82A}">
                    <a16:rowId xmlns:a16="http://schemas.microsoft.com/office/drawing/2014/main" val="10000"/>
                  </a:ext>
                </a:extLst>
              </a:tr>
              <a:tr h="568587">
                <a:tc>
                  <a:txBody>
                    <a:bodyPr/>
                    <a:lstStyle/>
                    <a:p>
                      <a:pPr algn="l"/>
                      <a:r>
                        <a:rPr sz="1100" b="0">
                          <a:solidFill>
                            <a:srgbClr val="2D3B52"/>
                          </a:solidFill>
                          <a:latin typeface="IBM Plex Sans"/>
                        </a:rPr>
                        <a:t>Customers</a:t>
                      </a:r>
                    </a:p>
                  </a:txBody>
                  <a:tcPr marL="114300" marR="114300" marT="68580" marB="68580" anchor="ctr">
                    <a:solidFill>
                      <a:srgbClr val="EEF2F8"/>
                    </a:solidFill>
                  </a:tcPr>
                </a:tc>
                <a:tc>
                  <a:txBody>
                    <a:bodyPr/>
                    <a:lstStyle/>
                    <a:p>
                      <a:pPr algn="l"/>
                      <a:r>
                        <a:rPr sz="1100" b="0">
                          <a:solidFill>
                            <a:srgbClr val="2D3B52"/>
                          </a:solidFill>
                          <a:latin typeface="IBM Plex Sans"/>
                        </a:rPr>
                        <a:t>4,010 → 4,000</a:t>
                      </a:r>
                    </a:p>
                  </a:txBody>
                  <a:tcPr marL="114300" marR="114300" marT="68580" marB="68580" anchor="ctr">
                    <a:solidFill>
                      <a:srgbClr val="EEF2F8"/>
                    </a:solidFill>
                  </a:tcPr>
                </a:tc>
                <a:tc>
                  <a:txBody>
                    <a:bodyPr/>
                    <a:lstStyle/>
                    <a:p>
                      <a:pPr algn="l"/>
                      <a:r>
                        <a:rPr sz="1100" b="0">
                          <a:solidFill>
                            <a:srgbClr val="2D3B52"/>
                          </a:solidFill>
                          <a:latin typeface="IBM Plex Sans"/>
                        </a:rPr>
                        <a:t>Customer ID, Age, Gender, City, Signup Date, Customer Segment</a:t>
                      </a:r>
                    </a:p>
                  </a:txBody>
                  <a:tcPr marL="114300" marR="114300" marT="68580" marB="68580" anchor="ctr">
                    <a:solidFill>
                      <a:srgbClr val="EEF2F8"/>
                    </a:solidFill>
                  </a:tcPr>
                </a:tc>
                <a:extLst>
                  <a:ext uri="{0D108BD9-81ED-4DB2-BD59-A6C34878D82A}">
                    <a16:rowId xmlns:a16="http://schemas.microsoft.com/office/drawing/2014/main" val="10001"/>
                  </a:ext>
                </a:extLst>
              </a:tr>
              <a:tr h="568587">
                <a:tc>
                  <a:txBody>
                    <a:bodyPr/>
                    <a:lstStyle/>
                    <a:p>
                      <a:pPr algn="l"/>
                      <a:r>
                        <a:rPr sz="1100" b="0">
                          <a:solidFill>
                            <a:srgbClr val="2D3B52"/>
                          </a:solidFill>
                          <a:latin typeface="IBM Plex Sans"/>
                        </a:rPr>
                        <a:t>Orders</a:t>
                      </a:r>
                    </a:p>
                  </a:txBody>
                  <a:tcPr marL="114300" marR="114300" marT="68580" marB="68580" anchor="ctr">
                    <a:solidFill>
                      <a:srgbClr val="FFFFFF"/>
                    </a:solidFill>
                  </a:tcPr>
                </a:tc>
                <a:tc>
                  <a:txBody>
                    <a:bodyPr/>
                    <a:lstStyle/>
                    <a:p>
                      <a:pPr algn="l"/>
                      <a:r>
                        <a:rPr sz="1100" b="0">
                          <a:solidFill>
                            <a:srgbClr val="2D3B52"/>
                          </a:solidFill>
                          <a:latin typeface="IBM Plex Sans"/>
                        </a:rPr>
                        <a:t>18,020 → 18,000</a:t>
                      </a:r>
                    </a:p>
                  </a:txBody>
                  <a:tcPr marL="114300" marR="114300" marT="68580" marB="68580" anchor="ctr">
                    <a:solidFill>
                      <a:srgbClr val="FFFFFF"/>
                    </a:solidFill>
                  </a:tcPr>
                </a:tc>
                <a:tc>
                  <a:txBody>
                    <a:bodyPr/>
                    <a:lstStyle/>
                    <a:p>
                      <a:pPr algn="l"/>
                      <a:r>
                        <a:rPr sz="1100" b="0">
                          <a:solidFill>
                            <a:srgbClr val="2D3B52"/>
                          </a:solidFill>
                          <a:latin typeface="IBM Plex Sans"/>
                        </a:rPr>
                        <a:t>Order ID, Customer ID, Product ID, Order Date, Quantity, Sales, Discount, Status, Payment</a:t>
                      </a:r>
                    </a:p>
                  </a:txBody>
                  <a:tcPr marL="114300" marR="114300" marT="68580" marB="68580" anchor="ctr">
                    <a:solidFill>
                      <a:srgbClr val="FFFFFF"/>
                    </a:solidFill>
                  </a:tcPr>
                </a:tc>
                <a:extLst>
                  <a:ext uri="{0D108BD9-81ED-4DB2-BD59-A6C34878D82A}">
                    <a16:rowId xmlns:a16="http://schemas.microsoft.com/office/drawing/2014/main" val="10002"/>
                  </a:ext>
                </a:extLst>
              </a:tr>
              <a:tr h="568587">
                <a:tc>
                  <a:txBody>
                    <a:bodyPr/>
                    <a:lstStyle/>
                    <a:p>
                      <a:pPr algn="l"/>
                      <a:r>
                        <a:rPr sz="1100" b="0">
                          <a:solidFill>
                            <a:srgbClr val="2D3B52"/>
                          </a:solidFill>
                          <a:latin typeface="IBM Plex Sans"/>
                        </a:rPr>
                        <a:t>Products</a:t>
                      </a:r>
                    </a:p>
                  </a:txBody>
                  <a:tcPr marL="114300" marR="114300" marT="68580" marB="68580" anchor="ctr">
                    <a:solidFill>
                      <a:srgbClr val="EEF2F8"/>
                    </a:solidFill>
                  </a:tcPr>
                </a:tc>
                <a:tc>
                  <a:txBody>
                    <a:bodyPr/>
                    <a:lstStyle/>
                    <a:p>
                      <a:pPr algn="l"/>
                      <a:r>
                        <a:rPr sz="1100" b="0">
                          <a:solidFill>
                            <a:srgbClr val="2D3B52"/>
                          </a:solidFill>
                          <a:latin typeface="IBM Plex Sans"/>
                        </a:rPr>
                        <a:t>30</a:t>
                      </a:r>
                    </a:p>
                  </a:txBody>
                  <a:tcPr marL="114300" marR="114300" marT="68580" marB="68580" anchor="ctr">
                    <a:solidFill>
                      <a:srgbClr val="EEF2F8"/>
                    </a:solidFill>
                  </a:tcPr>
                </a:tc>
                <a:tc>
                  <a:txBody>
                    <a:bodyPr/>
                    <a:lstStyle/>
                    <a:p>
                      <a:pPr algn="l"/>
                      <a:r>
                        <a:rPr sz="1100" b="0">
                          <a:solidFill>
                            <a:srgbClr val="2D3B52"/>
                          </a:solidFill>
                          <a:latin typeface="IBM Plex Sans"/>
                        </a:rPr>
                        <a:t>Product ID, Product Name, Category, Unit Price, Stock</a:t>
                      </a:r>
                    </a:p>
                  </a:txBody>
                  <a:tcPr marL="114300" marR="114300" marT="68580" marB="68580" anchor="ctr">
                    <a:solidFill>
                      <a:srgbClr val="EEF2F8"/>
                    </a:solidFill>
                  </a:tcPr>
                </a:tc>
                <a:extLst>
                  <a:ext uri="{0D108BD9-81ED-4DB2-BD59-A6C34878D82A}">
                    <a16:rowId xmlns:a16="http://schemas.microsoft.com/office/drawing/2014/main" val="10003"/>
                  </a:ext>
                </a:extLst>
              </a:tr>
              <a:tr h="568587">
                <a:tc>
                  <a:txBody>
                    <a:bodyPr/>
                    <a:lstStyle/>
                    <a:p>
                      <a:pPr algn="l"/>
                      <a:r>
                        <a:rPr sz="1100" b="0">
                          <a:solidFill>
                            <a:srgbClr val="2D3B52"/>
                          </a:solidFill>
                          <a:latin typeface="IBM Plex Sans"/>
                        </a:rPr>
                        <a:t>Locations</a:t>
                      </a:r>
                    </a:p>
                  </a:txBody>
                  <a:tcPr marL="114300" marR="114300" marT="68580" marB="68580" anchor="ctr">
                    <a:solidFill>
                      <a:srgbClr val="FFFFFF"/>
                    </a:solidFill>
                  </a:tcPr>
                </a:tc>
                <a:tc>
                  <a:txBody>
                    <a:bodyPr/>
                    <a:lstStyle/>
                    <a:p>
                      <a:pPr algn="l"/>
                      <a:r>
                        <a:rPr sz="1100" b="0">
                          <a:solidFill>
                            <a:srgbClr val="2D3B52"/>
                          </a:solidFill>
                          <a:latin typeface="IBM Plex Sans"/>
                        </a:rPr>
                        <a:t>8</a:t>
                      </a:r>
                    </a:p>
                  </a:txBody>
                  <a:tcPr marL="114300" marR="114300" marT="68580" marB="68580" anchor="ctr">
                    <a:solidFill>
                      <a:srgbClr val="FFFFFF"/>
                    </a:solidFill>
                  </a:tcPr>
                </a:tc>
                <a:tc>
                  <a:txBody>
                    <a:bodyPr/>
                    <a:lstStyle/>
                    <a:p>
                      <a:pPr algn="l"/>
                      <a:r>
                        <a:rPr sz="1100" b="0">
                          <a:solidFill>
                            <a:srgbClr val="2D3B52"/>
                          </a:solidFill>
                          <a:latin typeface="IBM Plex Sans"/>
                        </a:rPr>
                        <a:t>Location ID, City, State, Region, Market Size</a:t>
                      </a:r>
                    </a:p>
                  </a:txBody>
                  <a:tcPr marL="114300" marR="114300" marT="68580" marB="68580" anchor="ctr">
                    <a:solidFill>
                      <a:srgbClr val="FFFFFF"/>
                    </a:solidFill>
                  </a:tcPr>
                </a:tc>
                <a:extLst>
                  <a:ext uri="{0D108BD9-81ED-4DB2-BD59-A6C34878D82A}">
                    <a16:rowId xmlns:a16="http://schemas.microsoft.com/office/drawing/2014/main" val="10004"/>
                  </a:ext>
                </a:extLst>
              </a:tr>
              <a:tr h="568587">
                <a:tc>
                  <a:txBody>
                    <a:bodyPr/>
                    <a:lstStyle/>
                    <a:p>
                      <a:pPr algn="l"/>
                      <a:r>
                        <a:rPr sz="1100" b="0">
                          <a:solidFill>
                            <a:srgbClr val="2D3B52"/>
                          </a:solidFill>
                          <a:latin typeface="IBM Plex Sans"/>
                        </a:rPr>
                        <a:t>Total</a:t>
                      </a:r>
                    </a:p>
                  </a:txBody>
                  <a:tcPr marL="114300" marR="114300" marT="68580" marB="68580" anchor="ctr">
                    <a:solidFill>
                      <a:srgbClr val="EEF2F8"/>
                    </a:solidFill>
                  </a:tcPr>
                </a:tc>
                <a:tc>
                  <a:txBody>
                    <a:bodyPr/>
                    <a:lstStyle/>
                    <a:p>
                      <a:pPr algn="l"/>
                      <a:r>
                        <a:rPr sz="1100" b="0">
                          <a:solidFill>
                            <a:srgbClr val="2D3B52"/>
                          </a:solidFill>
                          <a:latin typeface="IBM Plex Sans"/>
                        </a:rPr>
                        <a:t>4 Tables</a:t>
                      </a:r>
                    </a:p>
                  </a:txBody>
                  <a:tcPr marL="114300" marR="114300" marT="68580" marB="68580" anchor="ctr">
                    <a:solidFill>
                      <a:srgbClr val="EEF2F8"/>
                    </a:solidFill>
                  </a:tcPr>
                </a:tc>
                <a:tc>
                  <a:txBody>
                    <a:bodyPr/>
                    <a:lstStyle/>
                    <a:p>
                      <a:pPr algn="l"/>
                      <a:r>
                        <a:rPr sz="1100" b="0">
                          <a:solidFill>
                            <a:srgbClr val="2D3B52"/>
                          </a:solidFill>
                          <a:latin typeface="IBM Plex Sans"/>
                        </a:rPr>
                        <a:t>E-commerce transactions across 8 Indian cities</a:t>
                      </a:r>
                    </a:p>
                  </a:txBody>
                  <a:tcPr marL="114300" marR="114300" marT="68580" marB="68580" anchor="ctr">
                    <a:solidFill>
                      <a:srgbClr val="EEF2F8"/>
                    </a:solidFill>
                  </a:tcPr>
                </a:tc>
                <a:extLst>
                  <a:ext uri="{0D108BD9-81ED-4DB2-BD59-A6C34878D82A}">
                    <a16:rowId xmlns:a16="http://schemas.microsoft.com/office/drawing/2014/main" val="10005"/>
                  </a:ext>
                </a:extLst>
              </a:tr>
              <a:tr h="568587">
                <a:tc>
                  <a:txBody>
                    <a:bodyPr/>
                    <a:lstStyle/>
                    <a:p>
                      <a:pPr algn="l"/>
                      <a:r>
                        <a:rPr sz="1100" b="0">
                          <a:solidFill>
                            <a:srgbClr val="2D3B52"/>
                          </a:solidFill>
                          <a:latin typeface="IBM Plex Sans"/>
                        </a:rPr>
                        <a:t>Period</a:t>
                      </a:r>
                    </a:p>
                  </a:txBody>
                  <a:tcPr marL="114300" marR="114300" marT="68580" marB="68580" anchor="ctr">
                    <a:solidFill>
                      <a:srgbClr val="FFFFFF"/>
                    </a:solidFill>
                  </a:tcPr>
                </a:tc>
                <a:tc>
                  <a:txBody>
                    <a:bodyPr/>
                    <a:lstStyle/>
                    <a:p>
                      <a:pPr algn="l"/>
                      <a:r>
                        <a:rPr sz="1100" b="0">
                          <a:solidFill>
                            <a:srgbClr val="2D3B52"/>
                          </a:solidFill>
                          <a:latin typeface="IBM Plex Sans"/>
                        </a:rPr>
                        <a:t>2025</a:t>
                      </a:r>
                    </a:p>
                  </a:txBody>
                  <a:tcPr marL="114300" marR="114300" marT="68580" marB="68580" anchor="ctr">
                    <a:solidFill>
                      <a:srgbClr val="FFFFFF"/>
                    </a:solidFill>
                  </a:tcPr>
                </a:tc>
                <a:tc>
                  <a:txBody>
                    <a:bodyPr/>
                    <a:lstStyle/>
                    <a:p>
                      <a:pPr algn="l"/>
                      <a:r>
                        <a:rPr sz="1100" b="0" dirty="0">
                          <a:solidFill>
                            <a:srgbClr val="2D3B52"/>
                          </a:solidFill>
                          <a:latin typeface="IBM Plex Sans"/>
                        </a:rPr>
                        <a:t>January–December 2025</a:t>
                      </a:r>
                    </a:p>
                  </a:txBody>
                  <a:tcPr marL="114300" marR="114300" marT="68580" marB="68580" anchor="ctr">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812800" y="6238239"/>
            <a:ext cx="4169855" cy="238760"/>
          </a:xfrm>
          <a:prstGeom prst="rect">
            <a:avLst/>
          </a:prstGeom>
          <a:noFill/>
        </p:spPr>
        <p:txBody>
          <a:bodyPr wrap="square" lIns="0" tIns="0" rIns="0" bIns="0">
            <a:noAutofit/>
          </a:bodyPr>
          <a:lstStyle/>
          <a:p>
            <a:pPr algn="l"/>
            <a:r>
              <a:rPr sz="1200">
                <a:solidFill>
                  <a:srgbClr val="8A94A6"/>
                </a:solidFill>
                <a:latin typeface="IBM Plex Sans"/>
              </a:rPr>
              <a:t>E-Commerce Sales &amp; Customer Analytics · Group 2</a:t>
            </a:r>
          </a:p>
        </p:txBody>
      </p:sp>
      <p:sp>
        <p:nvSpPr>
          <p:cNvPr id="7" name="TextBox 6"/>
          <p:cNvSpPr txBox="1"/>
          <p:nvPr/>
        </p:nvSpPr>
        <p:spPr>
          <a:xfrm>
            <a:off x="11196320" y="6238239"/>
            <a:ext cx="233680" cy="238760"/>
          </a:xfrm>
          <a:prstGeom prst="rect">
            <a:avLst/>
          </a:prstGeom>
          <a:noFill/>
        </p:spPr>
        <p:txBody>
          <a:bodyPr wrap="square" lIns="0" tIns="0" rIns="0" bIns="0">
            <a:noAutofit/>
          </a:bodyPr>
          <a:lstStyle/>
          <a:p>
            <a:pPr algn="r"/>
            <a:r>
              <a:rPr sz="1200">
                <a:solidFill>
                  <a:srgbClr val="8A94A6"/>
                </a:solidFill>
                <a:latin typeface="IBM Plex Sans"/>
              </a:rPr>
              <a:t>03</a:t>
            </a:r>
          </a:p>
        </p:txBody>
      </p:sp>
    </p:spTree>
    <p:extLst>
      <p:ext uri="{BB962C8B-B14F-4D97-AF65-F5344CB8AC3E}">
        <p14:creationId xmlns:p14="http://schemas.microsoft.com/office/powerpoint/2010/main" val="2760869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21F43-E579-73E7-5C5D-E403536BF6ED}"/>
              </a:ext>
            </a:extLst>
          </p:cNvPr>
          <p:cNvSpPr>
            <a:spLocks noGrp="1"/>
          </p:cNvSpPr>
          <p:nvPr>
            <p:ph type="title"/>
          </p:nvPr>
        </p:nvSpPr>
        <p:spPr>
          <a:xfrm>
            <a:off x="646922" y="550506"/>
            <a:ext cx="10732278" cy="531845"/>
          </a:xfrm>
        </p:spPr>
        <p:txBody>
          <a:bodyPr/>
          <a:lstStyle/>
          <a:p>
            <a:r>
              <a:rPr lang="en-IN" b="1" dirty="0">
                <a:latin typeface="Rubik"/>
              </a:rPr>
              <a:t>Dataset Cleaning Summary</a:t>
            </a:r>
            <a:br>
              <a:rPr lang="en-IN" b="1" dirty="0">
                <a:latin typeface="Rubik"/>
              </a:rPr>
            </a:br>
            <a:endParaRPr lang="en-IN" dirty="0"/>
          </a:p>
        </p:txBody>
      </p:sp>
      <p:sp>
        <p:nvSpPr>
          <p:cNvPr id="3" name="Text Placeholder 2">
            <a:extLst>
              <a:ext uri="{FF2B5EF4-FFF2-40B4-BE49-F238E27FC236}">
                <a16:creationId xmlns:a16="http://schemas.microsoft.com/office/drawing/2014/main" id="{71CECE33-C832-170C-7D8E-C393E4D98645}"/>
              </a:ext>
            </a:extLst>
          </p:cNvPr>
          <p:cNvSpPr>
            <a:spLocks noGrp="1"/>
          </p:cNvSpPr>
          <p:nvPr>
            <p:ph type="body" idx="101"/>
          </p:nvPr>
        </p:nvSpPr>
        <p:spPr/>
        <p:txBody>
          <a:bodyPr/>
          <a:lstStyle/>
          <a:p>
            <a:endParaRPr lang="en-IN" dirty="0"/>
          </a:p>
        </p:txBody>
      </p:sp>
      <p:graphicFrame>
        <p:nvGraphicFramePr>
          <p:cNvPr id="4" name="Table 3">
            <a:extLst>
              <a:ext uri="{FF2B5EF4-FFF2-40B4-BE49-F238E27FC236}">
                <a16:creationId xmlns:a16="http://schemas.microsoft.com/office/drawing/2014/main" id="{49AF2A91-09C3-06B4-1781-26BAD226C40E}"/>
              </a:ext>
            </a:extLst>
          </p:cNvPr>
          <p:cNvGraphicFramePr>
            <a:graphicFrameLocks noGrp="1"/>
          </p:cNvGraphicFramePr>
          <p:nvPr>
            <p:extLst>
              <p:ext uri="{D42A27DB-BD31-4B8C-83A1-F6EECF244321}">
                <p14:modId xmlns:p14="http://schemas.microsoft.com/office/powerpoint/2010/main" val="846611997"/>
              </p:ext>
            </p:extLst>
          </p:nvPr>
        </p:nvGraphicFramePr>
        <p:xfrm>
          <a:off x="646922" y="1212980"/>
          <a:ext cx="10898156" cy="5222708"/>
        </p:xfrm>
        <a:graphic>
          <a:graphicData uri="http://schemas.openxmlformats.org/drawingml/2006/table">
            <a:tbl>
              <a:tblPr>
                <a:tableStyleId>{5C22544A-7EE6-4342-B048-85BDC9FD1C3A}</a:tableStyleId>
              </a:tblPr>
              <a:tblGrid>
                <a:gridCol w="1746929">
                  <a:extLst>
                    <a:ext uri="{9D8B030D-6E8A-4147-A177-3AD203B41FA5}">
                      <a16:colId xmlns:a16="http://schemas.microsoft.com/office/drawing/2014/main" val="2332911181"/>
                    </a:ext>
                  </a:extLst>
                </a:gridCol>
                <a:gridCol w="4039844">
                  <a:extLst>
                    <a:ext uri="{9D8B030D-6E8A-4147-A177-3AD203B41FA5}">
                      <a16:colId xmlns:a16="http://schemas.microsoft.com/office/drawing/2014/main" val="650373877"/>
                    </a:ext>
                  </a:extLst>
                </a:gridCol>
                <a:gridCol w="5111383">
                  <a:extLst>
                    <a:ext uri="{9D8B030D-6E8A-4147-A177-3AD203B41FA5}">
                      <a16:colId xmlns:a16="http://schemas.microsoft.com/office/drawing/2014/main" val="2993495620"/>
                    </a:ext>
                  </a:extLst>
                </a:gridCol>
              </a:tblGrid>
              <a:tr h="550506">
                <a:tc>
                  <a:txBody>
                    <a:bodyPr/>
                    <a:lstStyle/>
                    <a:p>
                      <a:pPr marL="0" algn="ctr" defTabSz="914400" rtl="0" eaLnBrk="1" latinLnBrk="0" hangingPunct="1">
                        <a:lnSpc>
                          <a:spcPct val="115000"/>
                        </a:lnSpc>
                        <a:buNone/>
                      </a:pPr>
                      <a:r>
                        <a:rPr lang="en-IN" sz="1200" b="1" kern="1200" dirty="0">
                          <a:solidFill>
                            <a:schemeClr val="bg1"/>
                          </a:solidFill>
                          <a:latin typeface="IBM Plex Sans"/>
                          <a:ea typeface="+mn-ea"/>
                          <a:cs typeface="+mn-cs"/>
                        </a:rPr>
                        <a:t>Dataset</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latinLnBrk="0" hangingPunct="1">
                        <a:lnSpc>
                          <a:spcPct val="115000"/>
                        </a:lnSpc>
                        <a:buNone/>
                      </a:pPr>
                      <a:r>
                        <a:rPr lang="en-IN" sz="1200" b="1" kern="1200">
                          <a:solidFill>
                            <a:schemeClr val="bg1"/>
                          </a:solidFill>
                          <a:latin typeface="IBM Plex Sans"/>
                          <a:ea typeface="+mn-ea"/>
                          <a:cs typeface="+mn-cs"/>
                        </a:rPr>
                        <a:t>Issue Found</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algn="ctr" defTabSz="914400" rtl="0" eaLnBrk="1" latinLnBrk="0" hangingPunct="1">
                        <a:lnSpc>
                          <a:spcPct val="115000"/>
                        </a:lnSpc>
                        <a:buNone/>
                      </a:pPr>
                      <a:r>
                        <a:rPr lang="en-IN" sz="1200" b="1" kern="1200" dirty="0">
                          <a:solidFill>
                            <a:schemeClr val="bg1"/>
                          </a:solidFill>
                          <a:latin typeface="IBM Plex Sans"/>
                          <a:ea typeface="+mn-ea"/>
                          <a:cs typeface="+mn-cs"/>
                        </a:rPr>
                        <a:t>Resolution</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905446928"/>
                  </a:ext>
                </a:extLst>
              </a:tr>
              <a:tr h="535402">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customers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10 duplicate rows (4,010 → 4,000)</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Removed using Power Query Remove Duplicates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0042824"/>
                  </a:ext>
                </a:extLst>
              </a:tr>
              <a:tr h="559441">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customers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“Regular” / “regular” case inconsistency in </a:t>
                      </a:r>
                      <a:r>
                        <a:rPr lang="en-IN" sz="1200" b="1" kern="1200" dirty="0" err="1">
                          <a:solidFill>
                            <a:schemeClr val="tx1"/>
                          </a:solidFill>
                          <a:latin typeface="IBM Plex Sans"/>
                          <a:ea typeface="+mn-ea"/>
                          <a:cs typeface="+mn-cs"/>
                        </a:rPr>
                        <a:t>Customer_Segment</a:t>
                      </a:r>
                      <a:endParaRPr lang="en-IN" sz="1200" b="1" kern="1200" dirty="0">
                        <a:solidFill>
                          <a:schemeClr val="tx1"/>
                        </a:solidFill>
                        <a:latin typeface="IBM Plex Sans"/>
                        <a:ea typeface="+mn-ea"/>
                        <a:cs typeface="+mn-cs"/>
                      </a:endParaRP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Standardized to Title Case (3 clean values: New, Regular, Premium)</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3200242"/>
                  </a:ext>
                </a:extLst>
              </a:tr>
              <a:tr h="535402">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orders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20 duplicate rows (18,020 → 18,000)</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Removed using Power Query Remove Duplicates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006797"/>
                  </a:ext>
                </a:extLst>
              </a:tr>
              <a:tr h="1097027">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orders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25 blank </a:t>
                      </a:r>
                      <a:r>
                        <a:rPr lang="en-IN" sz="1200" b="1" kern="1200" dirty="0" err="1">
                          <a:solidFill>
                            <a:schemeClr val="tx1"/>
                          </a:solidFill>
                          <a:latin typeface="IBM Plex Sans"/>
                          <a:ea typeface="+mn-ea"/>
                          <a:cs typeface="+mn-cs"/>
                        </a:rPr>
                        <a:t>Net_Sales</a:t>
                      </a:r>
                      <a:r>
                        <a:rPr lang="en-IN" sz="1200" b="1" kern="1200" dirty="0">
                          <a:solidFill>
                            <a:schemeClr val="tx1"/>
                          </a:solidFill>
                          <a:latin typeface="IBM Plex Sans"/>
                          <a:ea typeface="+mn-ea"/>
                          <a:cs typeface="+mn-cs"/>
                        </a:rPr>
                        <a:t> values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Recomputed using</a:t>
                      </a:r>
                    </a:p>
                    <a:p>
                      <a:pPr marL="0" algn="ctr" defTabSz="914400" rtl="0" eaLnBrk="1" latinLnBrk="0" hangingPunct="1">
                        <a:lnSpc>
                          <a:spcPct val="115000"/>
                        </a:lnSpc>
                        <a:buNone/>
                      </a:pPr>
                      <a:r>
                        <a:rPr lang="en-IN" sz="1200" b="1" kern="1200">
                          <a:solidFill>
                            <a:schemeClr val="tx1"/>
                          </a:solidFill>
                          <a:latin typeface="IBM Plex Sans"/>
                          <a:ea typeface="+mn-ea"/>
                          <a:cs typeface="+mn-cs"/>
                        </a:rPr>
                        <a:t> Net_Sales = Gross_Amount − Discount + Shipping_Fee (formula held exactly for all non-blank rows)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8417156"/>
                  </a:ext>
                </a:extLst>
              </a:tr>
              <a:tr h="559441">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orders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“Completed” / “completed” case inconsistency in </a:t>
                      </a:r>
                      <a:r>
                        <a:rPr lang="en-IN" sz="1200" b="1" kern="1200" dirty="0" err="1">
                          <a:solidFill>
                            <a:schemeClr val="tx1"/>
                          </a:solidFill>
                          <a:latin typeface="IBM Plex Sans"/>
                          <a:ea typeface="+mn-ea"/>
                          <a:cs typeface="+mn-cs"/>
                        </a:rPr>
                        <a:t>Order_Status</a:t>
                      </a:r>
                      <a:endParaRPr lang="en-IN" sz="1200" b="1" kern="1200" dirty="0">
                        <a:solidFill>
                          <a:schemeClr val="tx1"/>
                        </a:solidFill>
                        <a:latin typeface="IBM Plex Sans"/>
                        <a:ea typeface="+mn-ea"/>
                        <a:cs typeface="+mn-cs"/>
                      </a:endParaRP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Standardized to Title Case (3 clean values: Completed, Cancelled, Returned)</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488139"/>
                  </a:ext>
                </a:extLst>
              </a:tr>
              <a:tr h="290647">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orders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Order_Date stored as text</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Converted to proper Date type</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785326"/>
                  </a:ext>
                </a:extLst>
              </a:tr>
              <a:tr h="804195">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products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5 products with invalid Unit_Price = (-50)</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Recovered true price from </a:t>
                      </a:r>
                      <a:r>
                        <a:rPr lang="en-IN" sz="1200" b="1" kern="1200" dirty="0" err="1">
                          <a:solidFill>
                            <a:schemeClr val="tx1"/>
                          </a:solidFill>
                          <a:latin typeface="IBM Plex Sans"/>
                          <a:ea typeface="+mn-ea"/>
                          <a:cs typeface="+mn-cs"/>
                        </a:rPr>
                        <a:t>Gross_Amount</a:t>
                      </a:r>
                      <a:r>
                        <a:rPr lang="en-IN" sz="1200" b="1" kern="1200" dirty="0">
                          <a:solidFill>
                            <a:schemeClr val="tx1"/>
                          </a:solidFill>
                          <a:latin typeface="IBM Plex Sans"/>
                          <a:ea typeface="+mn-ea"/>
                          <a:cs typeface="+mn-cs"/>
                        </a:rPr>
                        <a:t>/Quantity     (see Section 5.3) — not simply the absolute value</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1359114"/>
                  </a:ext>
                </a:extLst>
              </a:tr>
              <a:tr h="290647">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locations</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a:solidFill>
                            <a:schemeClr val="tx1"/>
                          </a:solidFill>
                          <a:latin typeface="IBM Plex Sans"/>
                          <a:ea typeface="+mn-ea"/>
                          <a:cs typeface="+mn-cs"/>
                        </a:rPr>
                        <a:t>None found</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15000"/>
                        </a:lnSpc>
                        <a:buNone/>
                      </a:pPr>
                      <a:r>
                        <a:rPr lang="en-IN" sz="1200" b="1" kern="1200" dirty="0">
                          <a:solidFill>
                            <a:schemeClr val="tx1"/>
                          </a:solidFill>
                          <a:latin typeface="IBM Plex Sans"/>
                          <a:ea typeface="+mn-ea"/>
                          <a:cs typeface="+mn-cs"/>
                        </a:rPr>
                        <a:t>No cleaning required</a:t>
                      </a:r>
                    </a:p>
                  </a:txBody>
                  <a:tcPr marL="6128" marR="612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0601922"/>
                  </a:ext>
                </a:extLst>
              </a:tr>
            </a:tbl>
          </a:graphicData>
        </a:graphic>
      </p:graphicFrame>
    </p:spTree>
    <p:extLst>
      <p:ext uri="{BB962C8B-B14F-4D97-AF65-F5344CB8AC3E}">
        <p14:creationId xmlns:p14="http://schemas.microsoft.com/office/powerpoint/2010/main" val="2926372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SALES PERFORMANCE</a:t>
            </a:r>
            <a:endParaRPr lang="en-US" sz="1200" dirty="0"/>
          </a:p>
        </p:txBody>
      </p:sp>
      <p:sp>
        <p:nvSpPr>
          <p:cNvPr id="3" name="Text 1"/>
          <p:cNvSpPr>
            <a:spLocks noGrp="1"/>
          </p:cNvSpPr>
          <p:nvPr>
            <p:ph type="title"/>
          </p:nvPr>
        </p:nvSpPr>
        <p:spPr>
          <a:xfrm>
            <a:off x="812800" y="11277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dirty="0"/>
              <a:t>Overall </a:t>
            </a:r>
            <a:r>
              <a:rPr lang="en-US" sz="3200" b="1" i="0" dirty="0">
                <a:solidFill>
                  <a:srgbClr val="14213D"/>
                </a:solidFill>
                <a:latin typeface="Rubik" pitchFamily="34" charset="0"/>
                <a:ea typeface="Rubik" pitchFamily="34" charset="-122"/>
                <a:cs typeface="Rubik" pitchFamily="34" charset="-120"/>
              </a:rPr>
              <a:t>Sales &amp; Category Performance</a:t>
            </a:r>
            <a:endParaRPr lang="en-US" sz="3200" dirty="0"/>
          </a:p>
        </p:txBody>
      </p:sp>
      <p:sp>
        <p:nvSpPr>
          <p:cNvPr id="4" name="Shape 2"/>
          <p:cNvSpPr/>
          <p:nvPr/>
        </p:nvSpPr>
        <p:spPr>
          <a:xfrm>
            <a:off x="812800" y="1823720"/>
            <a:ext cx="3420507" cy="1079500"/>
          </a:xfrm>
          <a:prstGeom prst="roundRect">
            <a:avLst>
              <a:gd name="adj" fmla="val 11765"/>
            </a:avLst>
          </a:prstGeom>
          <a:solidFill>
            <a:srgbClr val="14213D"/>
          </a:solidFill>
          <a:ln/>
        </p:spPr>
        <p:txBody>
          <a:bodyPr/>
          <a:lstStyle/>
          <a:p>
            <a:endParaRPr lang="en-IN"/>
          </a:p>
        </p:txBody>
      </p:sp>
      <p:sp>
        <p:nvSpPr>
          <p:cNvPr id="5" name="Text 3"/>
          <p:cNvSpPr/>
          <p:nvPr/>
        </p:nvSpPr>
        <p:spPr>
          <a:xfrm>
            <a:off x="1016000" y="2026920"/>
            <a:ext cx="3104530" cy="220980"/>
          </a:xfrm>
          <a:prstGeom prst="rect">
            <a:avLst/>
          </a:prstGeom>
          <a:noFill/>
          <a:ln/>
        </p:spPr>
        <p:txBody>
          <a:bodyPr wrap="square" lIns="0" tIns="0" rIns="0" bIns="0" rtlCol="0" anchor="t">
            <a:normAutofit/>
          </a:bodyPr>
          <a:lstStyle/>
          <a:p>
            <a:pPr marL="0" indent="0" algn="l">
              <a:lnSpc>
                <a:spcPts val="1540"/>
              </a:lnSpc>
              <a:buNone/>
            </a:pPr>
            <a:r>
              <a:rPr lang="en-US" sz="1100" b="1" kern="0" spc="50" dirty="0">
                <a:solidFill>
                  <a:srgbClr val="8FA6CC"/>
                </a:solidFill>
                <a:latin typeface="IBM Plex Sans" pitchFamily="34" charset="0"/>
                <a:ea typeface="IBM Plex Sans" pitchFamily="34" charset="-122"/>
                <a:cs typeface="IBM Plex Sans" pitchFamily="34" charset="-120"/>
              </a:rPr>
              <a:t>TOTAL SALES</a:t>
            </a:r>
            <a:endParaRPr lang="en-US" sz="1100" dirty="0"/>
          </a:p>
        </p:txBody>
      </p:sp>
      <p:sp>
        <p:nvSpPr>
          <p:cNvPr id="6" name="Text 4"/>
          <p:cNvSpPr/>
          <p:nvPr/>
        </p:nvSpPr>
        <p:spPr>
          <a:xfrm>
            <a:off x="1016000" y="2273300"/>
            <a:ext cx="310453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BFBF8"/>
                </a:solidFill>
                <a:latin typeface="IBM Plex Sans" pitchFamily="34" charset="0"/>
                <a:ea typeface="IBM Plex Sans" pitchFamily="34" charset="-122"/>
                <a:cs typeface="IBM Plex Sans" pitchFamily="34" charset="-120"/>
              </a:rPr>
              <a:t>₹10.05 Cr</a:t>
            </a:r>
            <a:endParaRPr lang="en-US" sz="2400" dirty="0"/>
          </a:p>
        </p:txBody>
      </p:sp>
      <p:sp>
        <p:nvSpPr>
          <p:cNvPr id="7" name="Shape 5"/>
          <p:cNvSpPr/>
          <p:nvPr/>
        </p:nvSpPr>
        <p:spPr>
          <a:xfrm>
            <a:off x="4385707" y="1823720"/>
            <a:ext cx="3420586" cy="1079500"/>
          </a:xfrm>
          <a:prstGeom prst="roundRect">
            <a:avLst>
              <a:gd name="adj" fmla="val 11765"/>
            </a:avLst>
          </a:prstGeom>
          <a:solidFill>
            <a:srgbClr val="2F6FED"/>
          </a:solidFill>
          <a:ln/>
        </p:spPr>
        <p:txBody>
          <a:bodyPr/>
          <a:lstStyle/>
          <a:p>
            <a:endParaRPr lang="en-IN"/>
          </a:p>
        </p:txBody>
      </p:sp>
      <p:sp>
        <p:nvSpPr>
          <p:cNvPr id="8" name="Text 6"/>
          <p:cNvSpPr/>
          <p:nvPr/>
        </p:nvSpPr>
        <p:spPr>
          <a:xfrm>
            <a:off x="4588907" y="2026920"/>
            <a:ext cx="3104612" cy="220980"/>
          </a:xfrm>
          <a:prstGeom prst="rect">
            <a:avLst/>
          </a:prstGeom>
          <a:noFill/>
          <a:ln/>
        </p:spPr>
        <p:txBody>
          <a:bodyPr wrap="square" lIns="0" tIns="0" rIns="0" bIns="0" rtlCol="0" anchor="t">
            <a:normAutofit/>
          </a:bodyPr>
          <a:lstStyle/>
          <a:p>
            <a:pPr marL="0" indent="0" algn="l">
              <a:lnSpc>
                <a:spcPts val="1540"/>
              </a:lnSpc>
              <a:buNone/>
            </a:pPr>
            <a:r>
              <a:rPr lang="en-US" sz="1100" b="1" kern="0" spc="50" dirty="0">
                <a:solidFill>
                  <a:srgbClr val="DCE7FF"/>
                </a:solidFill>
                <a:latin typeface="IBM Plex Sans" pitchFamily="34" charset="0"/>
                <a:ea typeface="IBM Plex Sans" pitchFamily="34" charset="-122"/>
                <a:cs typeface="IBM Plex Sans" pitchFamily="34" charset="-120"/>
              </a:rPr>
              <a:t>TOTAL ORDERS</a:t>
            </a:r>
            <a:endParaRPr lang="en-US" sz="1100" dirty="0"/>
          </a:p>
        </p:txBody>
      </p:sp>
      <p:sp>
        <p:nvSpPr>
          <p:cNvPr id="9" name="Text 7"/>
          <p:cNvSpPr/>
          <p:nvPr/>
        </p:nvSpPr>
        <p:spPr>
          <a:xfrm>
            <a:off x="4588907" y="2273300"/>
            <a:ext cx="3104612"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BFBF8"/>
                </a:solidFill>
                <a:latin typeface="IBM Plex Sans" pitchFamily="34" charset="0"/>
                <a:ea typeface="IBM Plex Sans" pitchFamily="34" charset="-122"/>
                <a:cs typeface="IBM Plex Sans" pitchFamily="34" charset="-120"/>
              </a:rPr>
              <a:t>18,000</a:t>
            </a:r>
            <a:endParaRPr lang="en-US" sz="2400" dirty="0"/>
          </a:p>
        </p:txBody>
      </p:sp>
      <p:sp>
        <p:nvSpPr>
          <p:cNvPr id="10" name="Shape 8"/>
          <p:cNvSpPr/>
          <p:nvPr/>
        </p:nvSpPr>
        <p:spPr>
          <a:xfrm>
            <a:off x="7958693" y="1823720"/>
            <a:ext cx="3420507" cy="1079500"/>
          </a:xfrm>
          <a:prstGeom prst="roundRect">
            <a:avLst>
              <a:gd name="adj" fmla="val 11765"/>
            </a:avLst>
          </a:prstGeom>
          <a:solidFill>
            <a:srgbClr val="14213D"/>
          </a:solidFill>
          <a:ln/>
        </p:spPr>
        <p:txBody>
          <a:bodyPr/>
          <a:lstStyle/>
          <a:p>
            <a:endParaRPr lang="en-IN"/>
          </a:p>
        </p:txBody>
      </p:sp>
      <p:sp>
        <p:nvSpPr>
          <p:cNvPr id="11" name="Text 9"/>
          <p:cNvSpPr/>
          <p:nvPr/>
        </p:nvSpPr>
        <p:spPr>
          <a:xfrm>
            <a:off x="8161893" y="2026920"/>
            <a:ext cx="3104530" cy="220980"/>
          </a:xfrm>
          <a:prstGeom prst="rect">
            <a:avLst/>
          </a:prstGeom>
          <a:noFill/>
          <a:ln/>
        </p:spPr>
        <p:txBody>
          <a:bodyPr wrap="square" lIns="0" tIns="0" rIns="0" bIns="0" rtlCol="0" anchor="t">
            <a:normAutofit/>
          </a:bodyPr>
          <a:lstStyle/>
          <a:p>
            <a:pPr>
              <a:lnSpc>
                <a:spcPts val="1540"/>
              </a:lnSpc>
            </a:pPr>
            <a:r>
              <a:rPr lang="en-US" sz="1100" b="1" kern="0" spc="50" dirty="0">
                <a:solidFill>
                  <a:srgbClr val="8FA6CC"/>
                </a:solidFill>
                <a:latin typeface="IBM Plex Sans" pitchFamily="34" charset="0"/>
              </a:rPr>
              <a:t>AVG ORDER VALUE</a:t>
            </a:r>
          </a:p>
        </p:txBody>
      </p:sp>
      <p:sp>
        <p:nvSpPr>
          <p:cNvPr id="12" name="Text 10"/>
          <p:cNvSpPr/>
          <p:nvPr/>
        </p:nvSpPr>
        <p:spPr>
          <a:xfrm>
            <a:off x="8161893" y="2273300"/>
            <a:ext cx="3104530"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chemeClr val="bg1"/>
                </a:solidFill>
                <a:latin typeface="IBM Plex Sans" pitchFamily="34" charset="0"/>
                <a:ea typeface="IBM Plex Sans" pitchFamily="34" charset="-122"/>
                <a:cs typeface="IBM Plex Sans" pitchFamily="34" charset="-120"/>
              </a:rPr>
              <a:t>₹5,580.63</a:t>
            </a:r>
            <a:endParaRPr lang="en-US" sz="2400" dirty="0">
              <a:solidFill>
                <a:schemeClr val="bg1"/>
              </a:solidFill>
            </a:endParaRPr>
          </a:p>
        </p:txBody>
      </p:sp>
      <p:sp>
        <p:nvSpPr>
          <p:cNvPr id="13" name="Text 11"/>
          <p:cNvSpPr/>
          <p:nvPr/>
        </p:nvSpPr>
        <p:spPr>
          <a:xfrm>
            <a:off x="812800" y="335915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Sales by Category</a:t>
            </a:r>
            <a:endParaRPr lang="en-US" sz="1300" dirty="0"/>
          </a:p>
        </p:txBody>
      </p:sp>
      <p:sp>
        <p:nvSpPr>
          <p:cNvPr id="14" name="Text 12"/>
          <p:cNvSpPr/>
          <p:nvPr/>
        </p:nvSpPr>
        <p:spPr>
          <a:xfrm>
            <a:off x="812800" y="3712211"/>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D3B52"/>
                </a:solidFill>
                <a:latin typeface="IBM Plex Sans" pitchFamily="34" charset="0"/>
                <a:ea typeface="IBM Plex Sans" pitchFamily="34" charset="-122"/>
                <a:cs typeface="IBM Plex Sans" pitchFamily="34" charset="-120"/>
              </a:rPr>
              <a:t>Beauty</a:t>
            </a:r>
            <a:endParaRPr lang="en-US" sz="1200" dirty="0"/>
          </a:p>
        </p:txBody>
      </p:sp>
      <p:sp>
        <p:nvSpPr>
          <p:cNvPr id="15" name="Shape 13"/>
          <p:cNvSpPr/>
          <p:nvPr/>
        </p:nvSpPr>
        <p:spPr>
          <a:xfrm>
            <a:off x="2438400" y="3704591"/>
            <a:ext cx="7950200" cy="228600"/>
          </a:xfrm>
          <a:prstGeom prst="roundRect">
            <a:avLst>
              <a:gd name="adj" fmla="val 27778"/>
            </a:avLst>
          </a:prstGeom>
          <a:solidFill>
            <a:srgbClr val="EEF2F8"/>
          </a:solidFill>
          <a:ln/>
        </p:spPr>
        <p:txBody>
          <a:bodyPr/>
          <a:lstStyle/>
          <a:p>
            <a:endParaRPr lang="en-IN"/>
          </a:p>
        </p:txBody>
      </p:sp>
      <p:sp>
        <p:nvSpPr>
          <p:cNvPr id="16" name="Shape 14"/>
          <p:cNvSpPr/>
          <p:nvPr/>
        </p:nvSpPr>
        <p:spPr>
          <a:xfrm>
            <a:off x="2438400" y="3704591"/>
            <a:ext cx="7950200" cy="228600"/>
          </a:xfrm>
          <a:prstGeom prst="roundRect">
            <a:avLst>
              <a:gd name="adj" fmla="val 27778"/>
            </a:avLst>
          </a:prstGeom>
          <a:solidFill>
            <a:srgbClr val="2F6FED"/>
          </a:solidFill>
          <a:ln/>
        </p:spPr>
        <p:txBody>
          <a:bodyPr/>
          <a:lstStyle/>
          <a:p>
            <a:endParaRPr lang="en-IN"/>
          </a:p>
        </p:txBody>
      </p:sp>
      <p:sp>
        <p:nvSpPr>
          <p:cNvPr id="17" name="Text 15"/>
          <p:cNvSpPr/>
          <p:nvPr/>
        </p:nvSpPr>
        <p:spPr>
          <a:xfrm>
            <a:off x="10439400" y="3712211"/>
            <a:ext cx="939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D3B52"/>
                </a:solidFill>
                <a:latin typeface="IBM Plex Sans" pitchFamily="34" charset="0"/>
                <a:ea typeface="IBM Plex Sans" pitchFamily="34" charset="-122"/>
                <a:cs typeface="IBM Plex Sans" pitchFamily="34" charset="-120"/>
              </a:rPr>
              <a:t>₹2.34 Cr</a:t>
            </a:r>
            <a:endParaRPr lang="en-US" sz="1200" dirty="0"/>
          </a:p>
        </p:txBody>
      </p:sp>
      <p:sp>
        <p:nvSpPr>
          <p:cNvPr id="18" name="Text 16"/>
          <p:cNvSpPr/>
          <p:nvPr/>
        </p:nvSpPr>
        <p:spPr>
          <a:xfrm>
            <a:off x="812800" y="4055111"/>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D3B52"/>
                </a:solidFill>
                <a:latin typeface="IBM Plex Sans" pitchFamily="34" charset="0"/>
                <a:ea typeface="IBM Plex Sans" pitchFamily="34" charset="-122"/>
                <a:cs typeface="IBM Plex Sans" pitchFamily="34" charset="-120"/>
              </a:rPr>
              <a:t>Fashion</a:t>
            </a:r>
            <a:endParaRPr lang="en-US" sz="1200" dirty="0"/>
          </a:p>
        </p:txBody>
      </p:sp>
      <p:sp>
        <p:nvSpPr>
          <p:cNvPr id="19" name="Shape 17"/>
          <p:cNvSpPr/>
          <p:nvPr/>
        </p:nvSpPr>
        <p:spPr>
          <a:xfrm>
            <a:off x="2438400" y="4047491"/>
            <a:ext cx="7950200" cy="228600"/>
          </a:xfrm>
          <a:prstGeom prst="roundRect">
            <a:avLst>
              <a:gd name="adj" fmla="val 27778"/>
            </a:avLst>
          </a:prstGeom>
          <a:solidFill>
            <a:srgbClr val="EEF2F8"/>
          </a:solidFill>
          <a:ln/>
        </p:spPr>
        <p:txBody>
          <a:bodyPr/>
          <a:lstStyle/>
          <a:p>
            <a:endParaRPr lang="en-IN"/>
          </a:p>
        </p:txBody>
      </p:sp>
      <p:sp>
        <p:nvSpPr>
          <p:cNvPr id="20" name="Shape 18"/>
          <p:cNvSpPr/>
          <p:nvPr/>
        </p:nvSpPr>
        <p:spPr>
          <a:xfrm>
            <a:off x="2438400" y="4047491"/>
            <a:ext cx="622300" cy="228600"/>
          </a:xfrm>
          <a:prstGeom prst="roundRect">
            <a:avLst>
              <a:gd name="adj" fmla="val 27778"/>
            </a:avLst>
          </a:prstGeom>
          <a:solidFill>
            <a:srgbClr val="2F6FED"/>
          </a:solidFill>
          <a:ln/>
        </p:spPr>
        <p:txBody>
          <a:bodyPr/>
          <a:lstStyle/>
          <a:p>
            <a:endParaRPr lang="en-IN"/>
          </a:p>
        </p:txBody>
      </p:sp>
      <p:sp>
        <p:nvSpPr>
          <p:cNvPr id="21" name="Text 19"/>
          <p:cNvSpPr/>
          <p:nvPr/>
        </p:nvSpPr>
        <p:spPr>
          <a:xfrm>
            <a:off x="10439400" y="4055111"/>
            <a:ext cx="939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D3B52"/>
                </a:solidFill>
                <a:latin typeface="IBM Plex Sans" pitchFamily="34" charset="0"/>
                <a:ea typeface="IBM Plex Sans" pitchFamily="34" charset="-122"/>
                <a:cs typeface="IBM Plex Sans" pitchFamily="34" charset="-120"/>
              </a:rPr>
              <a:t>₹2.30 Cr</a:t>
            </a:r>
            <a:endParaRPr lang="en-US" sz="1200" dirty="0"/>
          </a:p>
        </p:txBody>
      </p:sp>
      <p:sp>
        <p:nvSpPr>
          <p:cNvPr id="22" name="Text 20"/>
          <p:cNvSpPr/>
          <p:nvPr/>
        </p:nvSpPr>
        <p:spPr>
          <a:xfrm>
            <a:off x="812800" y="4398011"/>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D3B52"/>
                </a:solidFill>
                <a:latin typeface="IBM Plex Sans" pitchFamily="34" charset="0"/>
                <a:ea typeface="IBM Plex Sans" pitchFamily="34" charset="-122"/>
                <a:cs typeface="IBM Plex Sans" pitchFamily="34" charset="-120"/>
              </a:rPr>
              <a:t>Electronics</a:t>
            </a:r>
            <a:endParaRPr lang="en-US" sz="1200" dirty="0"/>
          </a:p>
        </p:txBody>
      </p:sp>
      <p:sp>
        <p:nvSpPr>
          <p:cNvPr id="23" name="Shape 21"/>
          <p:cNvSpPr/>
          <p:nvPr/>
        </p:nvSpPr>
        <p:spPr>
          <a:xfrm>
            <a:off x="2438400" y="4390391"/>
            <a:ext cx="7950200" cy="228600"/>
          </a:xfrm>
          <a:prstGeom prst="roundRect">
            <a:avLst>
              <a:gd name="adj" fmla="val 27778"/>
            </a:avLst>
          </a:prstGeom>
          <a:solidFill>
            <a:srgbClr val="EEF2F8"/>
          </a:solidFill>
          <a:ln/>
        </p:spPr>
        <p:txBody>
          <a:bodyPr/>
          <a:lstStyle/>
          <a:p>
            <a:endParaRPr lang="en-IN"/>
          </a:p>
        </p:txBody>
      </p:sp>
      <p:sp>
        <p:nvSpPr>
          <p:cNvPr id="24" name="Shape 22"/>
          <p:cNvSpPr/>
          <p:nvPr/>
        </p:nvSpPr>
        <p:spPr>
          <a:xfrm>
            <a:off x="2438400" y="4390391"/>
            <a:ext cx="527050" cy="228600"/>
          </a:xfrm>
          <a:prstGeom prst="roundRect">
            <a:avLst>
              <a:gd name="adj" fmla="val 27778"/>
            </a:avLst>
          </a:prstGeom>
          <a:solidFill>
            <a:srgbClr val="2F6FED"/>
          </a:solidFill>
          <a:ln/>
        </p:spPr>
        <p:txBody>
          <a:bodyPr/>
          <a:lstStyle/>
          <a:p>
            <a:endParaRPr lang="en-IN"/>
          </a:p>
        </p:txBody>
      </p:sp>
      <p:sp>
        <p:nvSpPr>
          <p:cNvPr id="25" name="Text 23"/>
          <p:cNvSpPr/>
          <p:nvPr/>
        </p:nvSpPr>
        <p:spPr>
          <a:xfrm>
            <a:off x="10439400" y="4398011"/>
            <a:ext cx="939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D3B52"/>
                </a:solidFill>
                <a:latin typeface="IBM Plex Sans" pitchFamily="34" charset="0"/>
                <a:ea typeface="IBM Plex Sans" pitchFamily="34" charset="-122"/>
                <a:cs typeface="IBM Plex Sans" pitchFamily="34" charset="-120"/>
              </a:rPr>
              <a:t>₹1.95 Cr</a:t>
            </a:r>
            <a:endParaRPr lang="en-US" sz="1200" dirty="0"/>
          </a:p>
        </p:txBody>
      </p:sp>
      <p:sp>
        <p:nvSpPr>
          <p:cNvPr id="26" name="Text 24"/>
          <p:cNvSpPr/>
          <p:nvPr/>
        </p:nvSpPr>
        <p:spPr>
          <a:xfrm>
            <a:off x="812800" y="4740911"/>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D3B52"/>
                </a:solidFill>
                <a:latin typeface="IBM Plex Sans" pitchFamily="34" charset="0"/>
                <a:ea typeface="IBM Plex Sans" pitchFamily="34" charset="-122"/>
                <a:cs typeface="IBM Plex Sans" pitchFamily="34" charset="-120"/>
              </a:rPr>
              <a:t>Home &amp; Kitchen</a:t>
            </a:r>
            <a:endParaRPr lang="en-US" sz="1200" dirty="0"/>
          </a:p>
        </p:txBody>
      </p:sp>
      <p:sp>
        <p:nvSpPr>
          <p:cNvPr id="27" name="Shape 25"/>
          <p:cNvSpPr/>
          <p:nvPr/>
        </p:nvSpPr>
        <p:spPr>
          <a:xfrm>
            <a:off x="2438400" y="4733291"/>
            <a:ext cx="7950200" cy="228600"/>
          </a:xfrm>
          <a:prstGeom prst="roundRect">
            <a:avLst>
              <a:gd name="adj" fmla="val 27778"/>
            </a:avLst>
          </a:prstGeom>
          <a:solidFill>
            <a:srgbClr val="EEF2F8"/>
          </a:solidFill>
          <a:ln/>
        </p:spPr>
        <p:txBody>
          <a:bodyPr/>
          <a:lstStyle/>
          <a:p>
            <a:endParaRPr lang="en-IN"/>
          </a:p>
        </p:txBody>
      </p:sp>
      <p:sp>
        <p:nvSpPr>
          <p:cNvPr id="28" name="Shape 26"/>
          <p:cNvSpPr/>
          <p:nvPr/>
        </p:nvSpPr>
        <p:spPr>
          <a:xfrm>
            <a:off x="2438400" y="4733291"/>
            <a:ext cx="508000" cy="228600"/>
          </a:xfrm>
          <a:prstGeom prst="roundRect">
            <a:avLst>
              <a:gd name="adj" fmla="val 27778"/>
            </a:avLst>
          </a:prstGeom>
          <a:solidFill>
            <a:srgbClr val="2F6FED"/>
          </a:solidFill>
          <a:ln/>
        </p:spPr>
        <p:txBody>
          <a:bodyPr/>
          <a:lstStyle/>
          <a:p>
            <a:endParaRPr lang="en-IN"/>
          </a:p>
        </p:txBody>
      </p:sp>
      <p:sp>
        <p:nvSpPr>
          <p:cNvPr id="29" name="Text 27"/>
          <p:cNvSpPr/>
          <p:nvPr/>
        </p:nvSpPr>
        <p:spPr>
          <a:xfrm>
            <a:off x="10439400" y="4740911"/>
            <a:ext cx="939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D3B52"/>
                </a:solidFill>
                <a:latin typeface="IBM Plex Sans" pitchFamily="34" charset="0"/>
                <a:ea typeface="IBM Plex Sans" pitchFamily="34" charset="-122"/>
                <a:cs typeface="IBM Plex Sans" pitchFamily="34" charset="-120"/>
              </a:rPr>
              <a:t>₹1.87 Cr</a:t>
            </a:r>
            <a:endParaRPr lang="en-US" sz="1200" dirty="0"/>
          </a:p>
        </p:txBody>
      </p:sp>
      <p:sp>
        <p:nvSpPr>
          <p:cNvPr id="30" name="Text 28"/>
          <p:cNvSpPr/>
          <p:nvPr/>
        </p:nvSpPr>
        <p:spPr>
          <a:xfrm>
            <a:off x="812800" y="5083811"/>
            <a:ext cx="1574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D3B52"/>
                </a:solidFill>
                <a:latin typeface="IBM Plex Sans" pitchFamily="34" charset="0"/>
                <a:ea typeface="IBM Plex Sans" pitchFamily="34" charset="-122"/>
                <a:cs typeface="IBM Plex Sans" pitchFamily="34" charset="-120"/>
              </a:rPr>
              <a:t>Sports</a:t>
            </a:r>
            <a:endParaRPr lang="en-US" sz="1200" dirty="0"/>
          </a:p>
        </p:txBody>
      </p:sp>
      <p:sp>
        <p:nvSpPr>
          <p:cNvPr id="31" name="Shape 29"/>
          <p:cNvSpPr/>
          <p:nvPr/>
        </p:nvSpPr>
        <p:spPr>
          <a:xfrm>
            <a:off x="2438400" y="5076191"/>
            <a:ext cx="7950200" cy="228600"/>
          </a:xfrm>
          <a:prstGeom prst="roundRect">
            <a:avLst>
              <a:gd name="adj" fmla="val 27778"/>
            </a:avLst>
          </a:prstGeom>
          <a:solidFill>
            <a:srgbClr val="EEF2F8"/>
          </a:solidFill>
          <a:ln/>
        </p:spPr>
        <p:txBody>
          <a:bodyPr/>
          <a:lstStyle/>
          <a:p>
            <a:endParaRPr lang="en-IN"/>
          </a:p>
        </p:txBody>
      </p:sp>
      <p:sp>
        <p:nvSpPr>
          <p:cNvPr id="32" name="Shape 30"/>
          <p:cNvSpPr/>
          <p:nvPr/>
        </p:nvSpPr>
        <p:spPr>
          <a:xfrm>
            <a:off x="2438400" y="5076191"/>
            <a:ext cx="431800" cy="228600"/>
          </a:xfrm>
          <a:prstGeom prst="roundRect">
            <a:avLst>
              <a:gd name="adj" fmla="val 27778"/>
            </a:avLst>
          </a:prstGeom>
          <a:solidFill>
            <a:srgbClr val="2F6FED"/>
          </a:solidFill>
          <a:ln/>
        </p:spPr>
        <p:txBody>
          <a:bodyPr/>
          <a:lstStyle/>
          <a:p>
            <a:endParaRPr lang="en-IN"/>
          </a:p>
        </p:txBody>
      </p:sp>
      <p:sp>
        <p:nvSpPr>
          <p:cNvPr id="33" name="Text 31"/>
          <p:cNvSpPr/>
          <p:nvPr/>
        </p:nvSpPr>
        <p:spPr>
          <a:xfrm>
            <a:off x="10439400" y="5083811"/>
            <a:ext cx="939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2D3B52"/>
                </a:solidFill>
                <a:latin typeface="IBM Plex Sans" pitchFamily="34" charset="0"/>
                <a:ea typeface="IBM Plex Sans" pitchFamily="34" charset="-122"/>
                <a:cs typeface="IBM Plex Sans" pitchFamily="34" charset="-120"/>
              </a:rPr>
              <a:t>₹1.59 Cr</a:t>
            </a:r>
            <a:endParaRPr lang="en-US" sz="1200" dirty="0"/>
          </a:p>
        </p:txBody>
      </p:sp>
      <p:sp>
        <p:nvSpPr>
          <p:cNvPr id="34" name="Text 32"/>
          <p:cNvSpPr/>
          <p:nvPr/>
        </p:nvSpPr>
        <p:spPr>
          <a:xfrm>
            <a:off x="812800" y="5419091"/>
            <a:ext cx="10883392"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A6B85"/>
                </a:solidFill>
                <a:latin typeface="IBM Plex Sans" pitchFamily="34" charset="0"/>
                <a:ea typeface="IBM Plex Sans" pitchFamily="34" charset="-122"/>
                <a:cs typeface="IBM Plex Sans" pitchFamily="34" charset="-120"/>
              </a:rPr>
              <a:t>Top products: Moisturizer ₹49.78L · Shampoo ₹49.61L · Football ₹49.27L · T-Shirt ₹48.06L · Coffee Maker ₹46.02L</a:t>
            </a:r>
            <a:endParaRPr lang="en-US" sz="1100" dirty="0"/>
          </a:p>
        </p:txBody>
      </p:sp>
      <p:sp>
        <p:nvSpPr>
          <p:cNvPr id="35" name="Text 33"/>
          <p:cNvSpPr/>
          <p:nvPr/>
        </p:nvSpPr>
        <p:spPr>
          <a:xfrm>
            <a:off x="812800" y="6238241"/>
            <a:ext cx="41698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200" dirty="0"/>
          </a:p>
        </p:txBody>
      </p:sp>
      <p:sp>
        <p:nvSpPr>
          <p:cNvPr id="36" name="Text 34"/>
          <p:cNvSpPr/>
          <p:nvPr/>
        </p:nvSpPr>
        <p:spPr>
          <a:xfrm>
            <a:off x="11196320" y="6238241"/>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TRENDS · SEGMENTS · LOCATIONS</a:t>
            </a:r>
            <a:endParaRPr lang="en-US" sz="1200" dirty="0"/>
          </a:p>
        </p:txBody>
      </p:sp>
      <p:sp>
        <p:nvSpPr>
          <p:cNvPr id="3" name="Text 1"/>
          <p:cNvSpPr>
            <a:spLocks noGrp="1"/>
          </p:cNvSpPr>
          <p:nvPr>
            <p:ph type="title"/>
          </p:nvPr>
        </p:nvSpPr>
        <p:spPr>
          <a:xfrm>
            <a:off x="812800" y="1127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Monthly Trend, Customer Segments &amp; Top Cities</a:t>
            </a:r>
            <a:endParaRPr lang="en-US" sz="3000" dirty="0"/>
          </a:p>
        </p:txBody>
      </p:sp>
      <p:sp>
        <p:nvSpPr>
          <p:cNvPr id="4" name="Shape 2"/>
          <p:cNvSpPr/>
          <p:nvPr/>
        </p:nvSpPr>
        <p:spPr>
          <a:xfrm>
            <a:off x="812800" y="1819911"/>
            <a:ext cx="3386614" cy="4022090"/>
          </a:xfrm>
          <a:prstGeom prst="roundRect">
            <a:avLst>
              <a:gd name="adj" fmla="val 3750"/>
            </a:avLst>
          </a:prstGeom>
          <a:solidFill>
            <a:srgbClr val="EEF2F8"/>
          </a:solidFill>
          <a:ln/>
        </p:spPr>
        <p:txBody>
          <a:bodyPr/>
          <a:lstStyle/>
          <a:p>
            <a:endParaRPr lang="en-IN"/>
          </a:p>
        </p:txBody>
      </p:sp>
      <p:sp>
        <p:nvSpPr>
          <p:cNvPr id="5" name="Text 3"/>
          <p:cNvSpPr/>
          <p:nvPr/>
        </p:nvSpPr>
        <p:spPr>
          <a:xfrm>
            <a:off x="1041400" y="2048511"/>
            <a:ext cx="301729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Monthly Sales Trend</a:t>
            </a:r>
            <a:endParaRPr lang="en-US" sz="1400" dirty="0"/>
          </a:p>
        </p:txBody>
      </p:sp>
      <p:sp>
        <p:nvSpPr>
          <p:cNvPr id="10" name="Text 8"/>
          <p:cNvSpPr/>
          <p:nvPr/>
        </p:nvSpPr>
        <p:spPr>
          <a:xfrm>
            <a:off x="1016000" y="4777220"/>
            <a:ext cx="3017296" cy="802486"/>
          </a:xfrm>
          <a:prstGeom prst="rect">
            <a:avLst/>
          </a:prstGeom>
          <a:noFill/>
          <a:ln/>
        </p:spPr>
        <p:txBody>
          <a:bodyPr wrap="square" lIns="0" tIns="0" rIns="0" bIns="0" rtlCol="0" anchor="t">
            <a:normAutofit/>
          </a:bodyPr>
          <a:lstStyle/>
          <a:p>
            <a:pPr>
              <a:lnSpc>
                <a:spcPts val="1540"/>
              </a:lnSpc>
            </a:pPr>
            <a:r>
              <a:rPr lang="en-US" sz="1100" dirty="0">
                <a:solidFill>
                  <a:srgbClr val="2D3B52"/>
                </a:solidFill>
                <a:latin typeface="IBM Plex Sans" pitchFamily="34" charset="0"/>
              </a:rPr>
              <a:t>January recorded the highest sales at ₹88.15L, while February recorded the lowest at ₹74.35L. Monthly sales fluctuated throughout the year without a sustained upward or downward trend.</a:t>
            </a:r>
          </a:p>
        </p:txBody>
      </p:sp>
      <p:sp>
        <p:nvSpPr>
          <p:cNvPr id="11" name="Shape 9"/>
          <p:cNvSpPr/>
          <p:nvPr/>
        </p:nvSpPr>
        <p:spPr>
          <a:xfrm>
            <a:off x="4402614" y="1819911"/>
            <a:ext cx="3386693" cy="4022090"/>
          </a:xfrm>
          <a:prstGeom prst="roundRect">
            <a:avLst>
              <a:gd name="adj" fmla="val 3750"/>
            </a:avLst>
          </a:prstGeom>
          <a:solidFill>
            <a:srgbClr val="EEF2F8"/>
          </a:solidFill>
          <a:ln/>
        </p:spPr>
        <p:txBody>
          <a:bodyPr/>
          <a:lstStyle/>
          <a:p>
            <a:endParaRPr lang="en-IN"/>
          </a:p>
        </p:txBody>
      </p:sp>
      <p:sp>
        <p:nvSpPr>
          <p:cNvPr id="12" name="Text 10"/>
          <p:cNvSpPr/>
          <p:nvPr/>
        </p:nvSpPr>
        <p:spPr>
          <a:xfrm>
            <a:off x="4631214" y="2048511"/>
            <a:ext cx="3017378"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Orders by Segment</a:t>
            </a:r>
            <a:endParaRPr lang="en-US" sz="1400" dirty="0"/>
          </a:p>
        </p:txBody>
      </p:sp>
      <p:sp>
        <p:nvSpPr>
          <p:cNvPr id="13" name="Text 11"/>
          <p:cNvSpPr/>
          <p:nvPr/>
        </p:nvSpPr>
        <p:spPr>
          <a:xfrm>
            <a:off x="4631214" y="3606166"/>
            <a:ext cx="812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Regular</a:t>
            </a:r>
            <a:endParaRPr lang="en-US" sz="1100" dirty="0"/>
          </a:p>
        </p:txBody>
      </p:sp>
      <p:sp>
        <p:nvSpPr>
          <p:cNvPr id="14" name="Shape 12"/>
          <p:cNvSpPr/>
          <p:nvPr/>
        </p:nvSpPr>
        <p:spPr>
          <a:xfrm>
            <a:off x="5469414" y="3606166"/>
            <a:ext cx="1507093" cy="190500"/>
          </a:xfrm>
          <a:prstGeom prst="roundRect">
            <a:avLst>
              <a:gd name="adj" fmla="val 26667"/>
            </a:avLst>
          </a:prstGeom>
          <a:solidFill>
            <a:srgbClr val="DCE3EE"/>
          </a:solidFill>
          <a:ln/>
        </p:spPr>
        <p:txBody>
          <a:bodyPr/>
          <a:lstStyle/>
          <a:p>
            <a:endParaRPr lang="en-IN"/>
          </a:p>
        </p:txBody>
      </p:sp>
      <p:sp>
        <p:nvSpPr>
          <p:cNvPr id="15" name="Shape 13"/>
          <p:cNvSpPr/>
          <p:nvPr/>
        </p:nvSpPr>
        <p:spPr>
          <a:xfrm>
            <a:off x="5469414" y="3606166"/>
            <a:ext cx="1507093" cy="190500"/>
          </a:xfrm>
          <a:prstGeom prst="roundRect">
            <a:avLst>
              <a:gd name="adj" fmla="val 26667"/>
            </a:avLst>
          </a:prstGeom>
          <a:solidFill>
            <a:srgbClr val="2F6FED"/>
          </a:solidFill>
          <a:ln/>
        </p:spPr>
        <p:txBody>
          <a:bodyPr/>
          <a:lstStyle/>
          <a:p>
            <a:endParaRPr lang="en-IN"/>
          </a:p>
        </p:txBody>
      </p:sp>
      <p:sp>
        <p:nvSpPr>
          <p:cNvPr id="16" name="Text 14"/>
          <p:cNvSpPr/>
          <p:nvPr/>
        </p:nvSpPr>
        <p:spPr>
          <a:xfrm>
            <a:off x="7001907" y="3606166"/>
            <a:ext cx="558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9,013</a:t>
            </a:r>
            <a:endParaRPr lang="en-US" sz="1100" dirty="0"/>
          </a:p>
        </p:txBody>
      </p:sp>
      <p:sp>
        <p:nvSpPr>
          <p:cNvPr id="17" name="Text 15"/>
          <p:cNvSpPr/>
          <p:nvPr/>
        </p:nvSpPr>
        <p:spPr>
          <a:xfrm>
            <a:off x="4631214" y="3903345"/>
            <a:ext cx="812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New</a:t>
            </a:r>
            <a:endParaRPr lang="en-US" sz="1100" dirty="0"/>
          </a:p>
        </p:txBody>
      </p:sp>
      <p:sp>
        <p:nvSpPr>
          <p:cNvPr id="18" name="Shape 16"/>
          <p:cNvSpPr/>
          <p:nvPr/>
        </p:nvSpPr>
        <p:spPr>
          <a:xfrm>
            <a:off x="5469414" y="3903345"/>
            <a:ext cx="1507093" cy="190500"/>
          </a:xfrm>
          <a:prstGeom prst="roundRect">
            <a:avLst>
              <a:gd name="adj" fmla="val 26667"/>
            </a:avLst>
          </a:prstGeom>
          <a:solidFill>
            <a:srgbClr val="DCE3EE"/>
          </a:solidFill>
          <a:ln/>
        </p:spPr>
        <p:txBody>
          <a:bodyPr/>
          <a:lstStyle/>
          <a:p>
            <a:endParaRPr lang="en-IN"/>
          </a:p>
        </p:txBody>
      </p:sp>
      <p:sp>
        <p:nvSpPr>
          <p:cNvPr id="19" name="Shape 17"/>
          <p:cNvSpPr/>
          <p:nvPr/>
        </p:nvSpPr>
        <p:spPr>
          <a:xfrm>
            <a:off x="5469414" y="3903345"/>
            <a:ext cx="450850" cy="190500"/>
          </a:xfrm>
          <a:prstGeom prst="roundRect">
            <a:avLst>
              <a:gd name="adj" fmla="val 26667"/>
            </a:avLst>
          </a:prstGeom>
          <a:solidFill>
            <a:srgbClr val="2F6FED"/>
          </a:solidFill>
          <a:ln/>
        </p:spPr>
        <p:txBody>
          <a:bodyPr/>
          <a:lstStyle/>
          <a:p>
            <a:endParaRPr lang="en-IN"/>
          </a:p>
        </p:txBody>
      </p:sp>
      <p:sp>
        <p:nvSpPr>
          <p:cNvPr id="20" name="Text 18"/>
          <p:cNvSpPr/>
          <p:nvPr/>
        </p:nvSpPr>
        <p:spPr>
          <a:xfrm>
            <a:off x="7001907" y="3903345"/>
            <a:ext cx="558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6,424</a:t>
            </a:r>
            <a:endParaRPr lang="en-US" sz="1100" dirty="0"/>
          </a:p>
        </p:txBody>
      </p:sp>
      <p:sp>
        <p:nvSpPr>
          <p:cNvPr id="21" name="Text 19"/>
          <p:cNvSpPr/>
          <p:nvPr/>
        </p:nvSpPr>
        <p:spPr>
          <a:xfrm>
            <a:off x="4631214" y="4200525"/>
            <a:ext cx="812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Premium</a:t>
            </a:r>
            <a:endParaRPr lang="en-US" sz="1100" dirty="0"/>
          </a:p>
        </p:txBody>
      </p:sp>
      <p:sp>
        <p:nvSpPr>
          <p:cNvPr id="22" name="Shape 20"/>
          <p:cNvSpPr/>
          <p:nvPr/>
        </p:nvSpPr>
        <p:spPr>
          <a:xfrm>
            <a:off x="5469414" y="4200525"/>
            <a:ext cx="1507093" cy="190500"/>
          </a:xfrm>
          <a:prstGeom prst="roundRect">
            <a:avLst>
              <a:gd name="adj" fmla="val 26667"/>
            </a:avLst>
          </a:prstGeom>
          <a:solidFill>
            <a:srgbClr val="DCE3EE"/>
          </a:solidFill>
          <a:ln/>
        </p:spPr>
        <p:txBody>
          <a:bodyPr/>
          <a:lstStyle/>
          <a:p>
            <a:endParaRPr lang="en-IN"/>
          </a:p>
        </p:txBody>
      </p:sp>
      <p:sp>
        <p:nvSpPr>
          <p:cNvPr id="23" name="Shape 21"/>
          <p:cNvSpPr/>
          <p:nvPr/>
        </p:nvSpPr>
        <p:spPr>
          <a:xfrm>
            <a:off x="5469414" y="4200525"/>
            <a:ext cx="177800" cy="190500"/>
          </a:xfrm>
          <a:prstGeom prst="roundRect">
            <a:avLst>
              <a:gd name="adj" fmla="val 28571"/>
            </a:avLst>
          </a:prstGeom>
          <a:solidFill>
            <a:srgbClr val="2F6FED"/>
          </a:solidFill>
          <a:ln/>
        </p:spPr>
        <p:txBody>
          <a:bodyPr/>
          <a:lstStyle/>
          <a:p>
            <a:endParaRPr lang="en-IN"/>
          </a:p>
        </p:txBody>
      </p:sp>
      <p:sp>
        <p:nvSpPr>
          <p:cNvPr id="24" name="Text 22"/>
          <p:cNvSpPr/>
          <p:nvPr/>
        </p:nvSpPr>
        <p:spPr>
          <a:xfrm>
            <a:off x="7001907" y="4200525"/>
            <a:ext cx="558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2,563</a:t>
            </a:r>
            <a:endParaRPr lang="en-US" sz="1100" dirty="0"/>
          </a:p>
        </p:txBody>
      </p:sp>
      <p:sp>
        <p:nvSpPr>
          <p:cNvPr id="25" name="Shape 23"/>
          <p:cNvSpPr/>
          <p:nvPr/>
        </p:nvSpPr>
        <p:spPr>
          <a:xfrm>
            <a:off x="8043307" y="1819911"/>
            <a:ext cx="3386693" cy="4022090"/>
          </a:xfrm>
          <a:prstGeom prst="roundRect">
            <a:avLst>
              <a:gd name="adj" fmla="val 3750"/>
            </a:avLst>
          </a:prstGeom>
          <a:solidFill>
            <a:srgbClr val="EEF2F8"/>
          </a:solidFill>
          <a:ln/>
        </p:spPr>
        <p:txBody>
          <a:bodyPr/>
          <a:lstStyle/>
          <a:p>
            <a:endParaRPr lang="en-IN" dirty="0"/>
          </a:p>
        </p:txBody>
      </p:sp>
      <p:sp>
        <p:nvSpPr>
          <p:cNvPr id="26" name="Text 24"/>
          <p:cNvSpPr/>
          <p:nvPr/>
        </p:nvSpPr>
        <p:spPr>
          <a:xfrm>
            <a:off x="8221107" y="2048511"/>
            <a:ext cx="3017378" cy="238760"/>
          </a:xfrm>
          <a:prstGeom prst="rect">
            <a:avLst/>
          </a:prstGeom>
          <a:noFill/>
          <a:ln/>
        </p:spPr>
        <p:txBody>
          <a:bodyPr wrap="square" lIns="0" tIns="0" rIns="0" bIns="0" rtlCol="0" anchor="t">
            <a:normAutofit/>
          </a:bodyPr>
          <a:lstStyle/>
          <a:p>
            <a:pPr>
              <a:lnSpc>
                <a:spcPts val="1680"/>
              </a:lnSpc>
            </a:pPr>
            <a:r>
              <a:rPr lang="en-US" sz="1400" b="1" dirty="0">
                <a:solidFill>
                  <a:srgbClr val="14213D"/>
                </a:solidFill>
                <a:latin typeface="IBM Plex Sans" pitchFamily="34" charset="0"/>
              </a:rPr>
              <a:t>Top Cities by Sales</a:t>
            </a:r>
          </a:p>
        </p:txBody>
      </p:sp>
      <p:sp>
        <p:nvSpPr>
          <p:cNvPr id="27" name="Text 25"/>
          <p:cNvSpPr/>
          <p:nvPr/>
        </p:nvSpPr>
        <p:spPr>
          <a:xfrm>
            <a:off x="8221107" y="2363470"/>
            <a:ext cx="661511" cy="238760"/>
          </a:xfrm>
          <a:prstGeom prst="rect">
            <a:avLst/>
          </a:prstGeom>
          <a:noFill/>
          <a:ln/>
        </p:spPr>
        <p:txBody>
          <a:bodyPr wrap="square" lIns="0" tIns="0" rIns="0" bIns="0" rtlCol="0" anchor="t">
            <a:normAutofit/>
          </a:bodyPr>
          <a:lstStyle/>
          <a:p>
            <a:pPr>
              <a:lnSpc>
                <a:spcPts val="1540"/>
              </a:lnSpc>
            </a:pPr>
            <a:r>
              <a:rPr lang="en-US" sz="1100" dirty="0">
                <a:solidFill>
                  <a:srgbClr val="2D3B52"/>
                </a:solidFill>
                <a:latin typeface="IBM Plex Sans" pitchFamily="34" charset="0"/>
              </a:rPr>
              <a:t>Mumbai</a:t>
            </a:r>
          </a:p>
        </p:txBody>
      </p:sp>
      <p:sp>
        <p:nvSpPr>
          <p:cNvPr id="28" name="Text 26"/>
          <p:cNvSpPr/>
          <p:nvPr/>
        </p:nvSpPr>
        <p:spPr>
          <a:xfrm>
            <a:off x="10420509" y="2363470"/>
            <a:ext cx="730091"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chemeClr val="accent1"/>
                </a:solidFill>
                <a:latin typeface="IBM Plex Sans" pitchFamily="34" charset="0"/>
                <a:ea typeface="IBM Plex Sans" pitchFamily="34" charset="-122"/>
                <a:cs typeface="IBM Plex Sans" pitchFamily="34" charset="-120"/>
              </a:rPr>
              <a:t>₹1.36 Cr</a:t>
            </a:r>
            <a:endParaRPr lang="en-US" sz="1200" dirty="0">
              <a:solidFill>
                <a:schemeClr val="accent1"/>
              </a:solidFill>
            </a:endParaRPr>
          </a:p>
        </p:txBody>
      </p:sp>
      <p:sp>
        <p:nvSpPr>
          <p:cNvPr id="29" name="Text 27"/>
          <p:cNvSpPr/>
          <p:nvPr/>
        </p:nvSpPr>
        <p:spPr>
          <a:xfrm>
            <a:off x="8221107" y="2678430"/>
            <a:ext cx="669036" cy="238760"/>
          </a:xfrm>
          <a:prstGeom prst="rect">
            <a:avLst/>
          </a:prstGeom>
          <a:noFill/>
          <a:ln/>
        </p:spPr>
        <p:txBody>
          <a:bodyPr wrap="square" lIns="0" tIns="0" rIns="0" bIns="0" rtlCol="0" anchor="t">
            <a:normAutofit/>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Chennai</a:t>
            </a:r>
            <a:endParaRPr lang="en-US" sz="1200" dirty="0"/>
          </a:p>
        </p:txBody>
      </p:sp>
      <p:sp>
        <p:nvSpPr>
          <p:cNvPr id="30" name="Text 28"/>
          <p:cNvSpPr/>
          <p:nvPr/>
        </p:nvSpPr>
        <p:spPr>
          <a:xfrm>
            <a:off x="10420509" y="2678430"/>
            <a:ext cx="730091"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chemeClr val="accent1"/>
                </a:solidFill>
                <a:latin typeface="IBM Plex Sans" pitchFamily="34" charset="0"/>
                <a:ea typeface="IBM Plex Sans" pitchFamily="34" charset="-122"/>
                <a:cs typeface="IBM Plex Sans" pitchFamily="34" charset="-120"/>
              </a:rPr>
              <a:t>₹1.31 Cr</a:t>
            </a:r>
            <a:endParaRPr lang="en-US" sz="1200" dirty="0">
              <a:solidFill>
                <a:schemeClr val="accent1"/>
              </a:solidFill>
            </a:endParaRPr>
          </a:p>
        </p:txBody>
      </p:sp>
      <p:sp>
        <p:nvSpPr>
          <p:cNvPr id="31" name="Text 29"/>
          <p:cNvSpPr/>
          <p:nvPr/>
        </p:nvSpPr>
        <p:spPr>
          <a:xfrm>
            <a:off x="8221107" y="2993391"/>
            <a:ext cx="618554" cy="238760"/>
          </a:xfrm>
          <a:prstGeom prst="rect">
            <a:avLst/>
          </a:prstGeom>
          <a:noFill/>
          <a:ln/>
        </p:spPr>
        <p:txBody>
          <a:bodyPr wrap="square" lIns="0" tIns="0" rIns="0" bIns="0" rtlCol="0" anchor="t">
            <a:normAutofit/>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Kolkata</a:t>
            </a:r>
            <a:endParaRPr lang="en-US" sz="1200" dirty="0"/>
          </a:p>
        </p:txBody>
      </p:sp>
      <p:sp>
        <p:nvSpPr>
          <p:cNvPr id="32" name="Text 30"/>
          <p:cNvSpPr/>
          <p:nvPr/>
        </p:nvSpPr>
        <p:spPr>
          <a:xfrm>
            <a:off x="10420509" y="2993391"/>
            <a:ext cx="730091"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chemeClr val="accent1"/>
                </a:solidFill>
                <a:latin typeface="IBM Plex Sans" pitchFamily="34" charset="0"/>
                <a:ea typeface="IBM Plex Sans" pitchFamily="34" charset="-122"/>
                <a:cs typeface="IBM Plex Sans" pitchFamily="34" charset="-120"/>
              </a:rPr>
              <a:t>₹1.29 Cr</a:t>
            </a:r>
            <a:endParaRPr lang="en-US" sz="1200" dirty="0">
              <a:solidFill>
                <a:schemeClr val="accent1"/>
              </a:solidFill>
            </a:endParaRPr>
          </a:p>
        </p:txBody>
      </p:sp>
      <p:sp>
        <p:nvSpPr>
          <p:cNvPr id="33" name="Text 31"/>
          <p:cNvSpPr/>
          <p:nvPr/>
        </p:nvSpPr>
        <p:spPr>
          <a:xfrm>
            <a:off x="8221107" y="3308350"/>
            <a:ext cx="419005" cy="238760"/>
          </a:xfrm>
          <a:prstGeom prst="rect">
            <a:avLst/>
          </a:prstGeom>
          <a:noFill/>
          <a:ln/>
        </p:spPr>
        <p:txBody>
          <a:bodyPr wrap="square" lIns="0" tIns="0" rIns="0" bIns="0" rtlCol="0" anchor="t">
            <a:normAutofit/>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Pune</a:t>
            </a:r>
            <a:endParaRPr lang="en-US" sz="1200" dirty="0"/>
          </a:p>
        </p:txBody>
      </p:sp>
      <p:sp>
        <p:nvSpPr>
          <p:cNvPr id="34" name="Text 32"/>
          <p:cNvSpPr/>
          <p:nvPr/>
        </p:nvSpPr>
        <p:spPr>
          <a:xfrm>
            <a:off x="10420509" y="3308350"/>
            <a:ext cx="730091"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chemeClr val="accent1"/>
                </a:solidFill>
                <a:latin typeface="IBM Plex Sans" pitchFamily="34" charset="0"/>
                <a:ea typeface="IBM Plex Sans" pitchFamily="34" charset="-122"/>
                <a:cs typeface="IBM Plex Sans" pitchFamily="34" charset="-120"/>
              </a:rPr>
              <a:t>₹1.26 Cr</a:t>
            </a:r>
            <a:endParaRPr lang="en-US" sz="1200" dirty="0">
              <a:solidFill>
                <a:schemeClr val="accent1"/>
              </a:solidFill>
            </a:endParaRPr>
          </a:p>
        </p:txBody>
      </p:sp>
      <p:sp>
        <p:nvSpPr>
          <p:cNvPr id="35" name="Text 33"/>
          <p:cNvSpPr/>
          <p:nvPr/>
        </p:nvSpPr>
        <p:spPr>
          <a:xfrm>
            <a:off x="8221107" y="3623311"/>
            <a:ext cx="422529" cy="238760"/>
          </a:xfrm>
          <a:prstGeom prst="rect">
            <a:avLst/>
          </a:prstGeom>
          <a:noFill/>
          <a:ln/>
        </p:spPr>
        <p:txBody>
          <a:bodyPr wrap="square" lIns="0" tIns="0" rIns="0" bIns="0" rtlCol="0" anchor="t">
            <a:normAutofit/>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Delhi</a:t>
            </a:r>
            <a:endParaRPr lang="en-US" sz="1200" dirty="0"/>
          </a:p>
        </p:txBody>
      </p:sp>
      <p:sp>
        <p:nvSpPr>
          <p:cNvPr id="36" name="Text 34"/>
          <p:cNvSpPr/>
          <p:nvPr/>
        </p:nvSpPr>
        <p:spPr>
          <a:xfrm>
            <a:off x="10420509" y="3623311"/>
            <a:ext cx="730091"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chemeClr val="accent1"/>
                </a:solidFill>
                <a:latin typeface="IBM Plex Sans" pitchFamily="34" charset="0"/>
                <a:ea typeface="IBM Plex Sans" pitchFamily="34" charset="-122"/>
                <a:cs typeface="IBM Plex Sans" pitchFamily="34" charset="-120"/>
              </a:rPr>
              <a:t>₹1.23 Cr</a:t>
            </a:r>
            <a:endParaRPr lang="en-US" sz="1200" dirty="0">
              <a:solidFill>
                <a:schemeClr val="accent1"/>
              </a:solidFill>
            </a:endParaRPr>
          </a:p>
        </p:txBody>
      </p:sp>
      <p:sp>
        <p:nvSpPr>
          <p:cNvPr id="37" name="Text 35"/>
          <p:cNvSpPr/>
          <p:nvPr/>
        </p:nvSpPr>
        <p:spPr>
          <a:xfrm>
            <a:off x="812800" y="6238239"/>
            <a:ext cx="41698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200" dirty="0"/>
          </a:p>
        </p:txBody>
      </p:sp>
      <p:sp>
        <p:nvSpPr>
          <p:cNvPr id="38" name="Text 36"/>
          <p:cNvSpPr/>
          <p:nvPr/>
        </p:nvSpPr>
        <p:spPr>
          <a:xfrm>
            <a:off x="11196320" y="6238239"/>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04</a:t>
            </a:r>
            <a:endParaRPr lang="en-US" sz="1200" dirty="0"/>
          </a:p>
        </p:txBody>
      </p:sp>
      <p:sp>
        <p:nvSpPr>
          <p:cNvPr id="40" name="Text 33">
            <a:extLst>
              <a:ext uri="{FF2B5EF4-FFF2-40B4-BE49-F238E27FC236}">
                <a16:creationId xmlns:a16="http://schemas.microsoft.com/office/drawing/2014/main" id="{300E661E-3020-5983-EA0B-C9D66CE372C1}"/>
              </a:ext>
            </a:extLst>
          </p:cNvPr>
          <p:cNvSpPr/>
          <p:nvPr/>
        </p:nvSpPr>
        <p:spPr>
          <a:xfrm>
            <a:off x="8217548" y="4214843"/>
            <a:ext cx="2933052" cy="562378"/>
          </a:xfrm>
          <a:prstGeom prst="rect">
            <a:avLst/>
          </a:prstGeom>
          <a:noFill/>
          <a:ln/>
        </p:spPr>
        <p:txBody>
          <a:bodyPr wrap="square" lIns="0" tIns="0" rIns="0" bIns="0" rtlCol="0" anchor="t">
            <a:normAutofit/>
          </a:bodyPr>
          <a:lstStyle/>
          <a:p>
            <a:pPr>
              <a:lnSpc>
                <a:spcPts val="1540"/>
              </a:lnSpc>
            </a:pPr>
            <a:r>
              <a:rPr lang="en-IN" sz="1100" dirty="0">
                <a:solidFill>
                  <a:srgbClr val="2D3B52"/>
                </a:solidFill>
                <a:latin typeface="IBM Plex Sans" pitchFamily="34" charset="0"/>
              </a:rPr>
              <a:t>Other cities showed relatively balanced performance.</a:t>
            </a:r>
            <a:endParaRPr lang="en-US" sz="1100" dirty="0">
              <a:solidFill>
                <a:srgbClr val="2D3B52"/>
              </a:solidFill>
              <a:latin typeface="IBM Plex Sans" pitchFamily="34" charset="0"/>
            </a:endParaRPr>
          </a:p>
        </p:txBody>
      </p:sp>
      <p:sp>
        <p:nvSpPr>
          <p:cNvPr id="91" name="Rectangle: Top Corners Rounded 90">
            <a:extLst>
              <a:ext uri="{FF2B5EF4-FFF2-40B4-BE49-F238E27FC236}">
                <a16:creationId xmlns:a16="http://schemas.microsoft.com/office/drawing/2014/main" id="{3A967ABB-F415-B59A-5E96-07E690405471}"/>
              </a:ext>
            </a:extLst>
          </p:cNvPr>
          <p:cNvSpPr/>
          <p:nvPr/>
        </p:nvSpPr>
        <p:spPr>
          <a:xfrm>
            <a:off x="1041399" y="2695000"/>
            <a:ext cx="204651" cy="1550000"/>
          </a:xfrm>
          <a:prstGeom prst="round2SameRect">
            <a:avLst/>
          </a:prstGeom>
          <a:solidFill>
            <a:srgbClr val="2F6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a:extLst>
              <a:ext uri="{FF2B5EF4-FFF2-40B4-BE49-F238E27FC236}">
                <a16:creationId xmlns:a16="http://schemas.microsoft.com/office/drawing/2014/main" id="{087B18C8-AC2D-0529-A383-CB74D8624FEB}"/>
              </a:ext>
            </a:extLst>
          </p:cNvPr>
          <p:cNvSpPr txBox="1"/>
          <p:nvPr/>
        </p:nvSpPr>
        <p:spPr>
          <a:xfrm>
            <a:off x="967695" y="4245000"/>
            <a:ext cx="410130" cy="201662"/>
          </a:xfrm>
          <a:prstGeom prst="round2SameRect">
            <a:avLst/>
          </a:prstGeom>
          <a:noFill/>
        </p:spPr>
        <p:txBody>
          <a:bodyPr wrap="square">
            <a:spAutoFit/>
          </a:bodyPr>
          <a:lstStyle/>
          <a:p>
            <a:pPr algn="ctr"/>
            <a:r>
              <a:rPr sz="650" dirty="0">
                <a:solidFill>
                  <a:srgbClr val="414141"/>
                </a:solidFill>
                <a:latin typeface="Aptos"/>
              </a:rPr>
              <a:t>Jan</a:t>
            </a:r>
          </a:p>
        </p:txBody>
      </p:sp>
      <p:sp>
        <p:nvSpPr>
          <p:cNvPr id="95" name="Rectangle: Top Corners Rounded 94">
            <a:extLst>
              <a:ext uri="{FF2B5EF4-FFF2-40B4-BE49-F238E27FC236}">
                <a16:creationId xmlns:a16="http://schemas.microsoft.com/office/drawing/2014/main" id="{7160A836-2B17-CEEF-D259-1A93B2FF9BCC}"/>
              </a:ext>
            </a:extLst>
          </p:cNvPr>
          <p:cNvSpPr/>
          <p:nvPr/>
        </p:nvSpPr>
        <p:spPr>
          <a:xfrm>
            <a:off x="1292516" y="2929772"/>
            <a:ext cx="204651" cy="1307402"/>
          </a:xfrm>
          <a:prstGeom prst="round2SameRect">
            <a:avLst/>
          </a:prstGeom>
          <a:solidFill>
            <a:srgbClr val="AEC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F93C36EB-EC33-EC58-970D-F7414A860C1C}"/>
              </a:ext>
            </a:extLst>
          </p:cNvPr>
          <p:cNvSpPr txBox="1"/>
          <p:nvPr/>
        </p:nvSpPr>
        <p:spPr>
          <a:xfrm>
            <a:off x="1218812" y="4245000"/>
            <a:ext cx="410130" cy="201662"/>
          </a:xfrm>
          <a:prstGeom prst="round2SameRect">
            <a:avLst/>
          </a:prstGeom>
          <a:noFill/>
        </p:spPr>
        <p:txBody>
          <a:bodyPr wrap="square">
            <a:spAutoFit/>
          </a:bodyPr>
          <a:lstStyle/>
          <a:p>
            <a:pPr algn="ctr"/>
            <a:r>
              <a:rPr sz="650" dirty="0">
                <a:solidFill>
                  <a:srgbClr val="414141"/>
                </a:solidFill>
                <a:latin typeface="Aptos"/>
              </a:rPr>
              <a:t>Feb</a:t>
            </a:r>
          </a:p>
        </p:txBody>
      </p:sp>
      <p:sp>
        <p:nvSpPr>
          <p:cNvPr id="99" name="Rectangle: Top Corners Rounded 98">
            <a:extLst>
              <a:ext uri="{FF2B5EF4-FFF2-40B4-BE49-F238E27FC236}">
                <a16:creationId xmlns:a16="http://schemas.microsoft.com/office/drawing/2014/main" id="{B457825C-DEC6-2BB4-5DF9-9F2D5AA53497}"/>
              </a:ext>
            </a:extLst>
          </p:cNvPr>
          <p:cNvSpPr/>
          <p:nvPr/>
        </p:nvSpPr>
        <p:spPr>
          <a:xfrm>
            <a:off x="1543634" y="2753953"/>
            <a:ext cx="204651" cy="1489081"/>
          </a:xfrm>
          <a:prstGeom prst="round2SameRect">
            <a:avLst/>
          </a:prstGeom>
          <a:solidFill>
            <a:srgbClr val="4A8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a:extLst>
              <a:ext uri="{FF2B5EF4-FFF2-40B4-BE49-F238E27FC236}">
                <a16:creationId xmlns:a16="http://schemas.microsoft.com/office/drawing/2014/main" id="{A5E66DDA-D449-8F09-2E3D-112BF5BBBB8A}"/>
              </a:ext>
            </a:extLst>
          </p:cNvPr>
          <p:cNvSpPr txBox="1"/>
          <p:nvPr/>
        </p:nvSpPr>
        <p:spPr>
          <a:xfrm>
            <a:off x="1469930" y="4245000"/>
            <a:ext cx="410130" cy="201662"/>
          </a:xfrm>
          <a:prstGeom prst="round2SameRect">
            <a:avLst/>
          </a:prstGeom>
          <a:noFill/>
        </p:spPr>
        <p:txBody>
          <a:bodyPr wrap="square">
            <a:spAutoFit/>
          </a:bodyPr>
          <a:lstStyle/>
          <a:p>
            <a:pPr algn="ctr"/>
            <a:r>
              <a:rPr sz="650">
                <a:solidFill>
                  <a:srgbClr val="414141"/>
                </a:solidFill>
                <a:latin typeface="Aptos"/>
              </a:rPr>
              <a:t>Mar</a:t>
            </a:r>
          </a:p>
        </p:txBody>
      </p:sp>
      <p:sp>
        <p:nvSpPr>
          <p:cNvPr id="103" name="Rectangle: Top Corners Rounded 102">
            <a:extLst>
              <a:ext uri="{FF2B5EF4-FFF2-40B4-BE49-F238E27FC236}">
                <a16:creationId xmlns:a16="http://schemas.microsoft.com/office/drawing/2014/main" id="{2776EB97-7F3F-766F-5036-EF065C5D30A4}"/>
              </a:ext>
            </a:extLst>
          </p:cNvPr>
          <p:cNvSpPr/>
          <p:nvPr/>
        </p:nvSpPr>
        <p:spPr>
          <a:xfrm>
            <a:off x="1794752" y="2844801"/>
            <a:ext cx="204651" cy="1395205"/>
          </a:xfrm>
          <a:prstGeom prst="round2SameRect">
            <a:avLst/>
          </a:prstGeom>
          <a:solidFill>
            <a:srgbClr val="78A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a:extLst>
              <a:ext uri="{FF2B5EF4-FFF2-40B4-BE49-F238E27FC236}">
                <a16:creationId xmlns:a16="http://schemas.microsoft.com/office/drawing/2014/main" id="{4CAFB9AC-3F56-F664-79A8-46DC3FB0F1BE}"/>
              </a:ext>
            </a:extLst>
          </p:cNvPr>
          <p:cNvSpPr txBox="1"/>
          <p:nvPr/>
        </p:nvSpPr>
        <p:spPr>
          <a:xfrm>
            <a:off x="1721048" y="4245000"/>
            <a:ext cx="410130" cy="201662"/>
          </a:xfrm>
          <a:prstGeom prst="round2SameRect">
            <a:avLst/>
          </a:prstGeom>
          <a:noFill/>
        </p:spPr>
        <p:txBody>
          <a:bodyPr wrap="square">
            <a:spAutoFit/>
          </a:bodyPr>
          <a:lstStyle/>
          <a:p>
            <a:pPr algn="ctr"/>
            <a:r>
              <a:rPr sz="650">
                <a:solidFill>
                  <a:srgbClr val="414141"/>
                </a:solidFill>
                <a:latin typeface="Aptos"/>
              </a:rPr>
              <a:t>Apr</a:t>
            </a:r>
          </a:p>
        </p:txBody>
      </p:sp>
      <p:sp>
        <p:nvSpPr>
          <p:cNvPr id="107" name="Rectangle: Top Corners Rounded 106">
            <a:extLst>
              <a:ext uri="{FF2B5EF4-FFF2-40B4-BE49-F238E27FC236}">
                <a16:creationId xmlns:a16="http://schemas.microsoft.com/office/drawing/2014/main" id="{23011EF3-4B6B-C148-C558-56A9303D782B}"/>
              </a:ext>
            </a:extLst>
          </p:cNvPr>
          <p:cNvSpPr/>
          <p:nvPr/>
        </p:nvSpPr>
        <p:spPr>
          <a:xfrm>
            <a:off x="2045870" y="2725093"/>
            <a:ext cx="204651" cy="1518903"/>
          </a:xfrm>
          <a:prstGeom prst="round2SameRect">
            <a:avLst/>
          </a:prstGeom>
          <a:solidFill>
            <a:srgbClr val="3C7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a:extLst>
              <a:ext uri="{FF2B5EF4-FFF2-40B4-BE49-F238E27FC236}">
                <a16:creationId xmlns:a16="http://schemas.microsoft.com/office/drawing/2014/main" id="{259285E9-6474-838E-DBAE-B533889B942E}"/>
              </a:ext>
            </a:extLst>
          </p:cNvPr>
          <p:cNvSpPr txBox="1"/>
          <p:nvPr/>
        </p:nvSpPr>
        <p:spPr>
          <a:xfrm>
            <a:off x="1972166" y="4245000"/>
            <a:ext cx="410130" cy="201662"/>
          </a:xfrm>
          <a:prstGeom prst="round2SameRect">
            <a:avLst/>
          </a:prstGeom>
          <a:noFill/>
        </p:spPr>
        <p:txBody>
          <a:bodyPr wrap="square">
            <a:spAutoFit/>
          </a:bodyPr>
          <a:lstStyle/>
          <a:p>
            <a:pPr algn="ctr"/>
            <a:r>
              <a:rPr sz="650">
                <a:solidFill>
                  <a:srgbClr val="414141"/>
                </a:solidFill>
                <a:latin typeface="Aptos"/>
              </a:rPr>
              <a:t>May</a:t>
            </a:r>
          </a:p>
        </p:txBody>
      </p:sp>
      <p:sp>
        <p:nvSpPr>
          <p:cNvPr id="111" name="Rectangle: Top Corners Rounded 110">
            <a:extLst>
              <a:ext uri="{FF2B5EF4-FFF2-40B4-BE49-F238E27FC236}">
                <a16:creationId xmlns:a16="http://schemas.microsoft.com/office/drawing/2014/main" id="{5141E597-91A6-FBD7-F542-7202F374500D}"/>
              </a:ext>
            </a:extLst>
          </p:cNvPr>
          <p:cNvSpPr/>
          <p:nvPr/>
        </p:nvSpPr>
        <p:spPr>
          <a:xfrm>
            <a:off x="2296988" y="2798927"/>
            <a:ext cx="204651" cy="1442609"/>
          </a:xfrm>
          <a:prstGeom prst="round2SameRect">
            <a:avLst/>
          </a:prstGeom>
          <a:solidFill>
            <a:srgbClr val="609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a:extLst>
              <a:ext uri="{FF2B5EF4-FFF2-40B4-BE49-F238E27FC236}">
                <a16:creationId xmlns:a16="http://schemas.microsoft.com/office/drawing/2014/main" id="{AF9C7731-2CCF-C30A-53C3-C5FED67509B8}"/>
              </a:ext>
            </a:extLst>
          </p:cNvPr>
          <p:cNvSpPr txBox="1"/>
          <p:nvPr/>
        </p:nvSpPr>
        <p:spPr>
          <a:xfrm>
            <a:off x="2223284" y="4245000"/>
            <a:ext cx="410130" cy="201662"/>
          </a:xfrm>
          <a:prstGeom prst="round2SameRect">
            <a:avLst/>
          </a:prstGeom>
          <a:noFill/>
        </p:spPr>
        <p:txBody>
          <a:bodyPr wrap="square">
            <a:spAutoFit/>
          </a:bodyPr>
          <a:lstStyle/>
          <a:p>
            <a:pPr algn="ctr"/>
            <a:r>
              <a:rPr sz="650">
                <a:solidFill>
                  <a:srgbClr val="414141"/>
                </a:solidFill>
                <a:latin typeface="Aptos"/>
              </a:rPr>
              <a:t>Jun</a:t>
            </a:r>
          </a:p>
        </p:txBody>
      </p:sp>
      <p:sp>
        <p:nvSpPr>
          <p:cNvPr id="115" name="Rectangle: Top Corners Rounded 114">
            <a:extLst>
              <a:ext uri="{FF2B5EF4-FFF2-40B4-BE49-F238E27FC236}">
                <a16:creationId xmlns:a16="http://schemas.microsoft.com/office/drawing/2014/main" id="{154C4E3F-1BB5-575C-6085-AB73871D182F}"/>
              </a:ext>
            </a:extLst>
          </p:cNvPr>
          <p:cNvSpPr/>
          <p:nvPr/>
        </p:nvSpPr>
        <p:spPr>
          <a:xfrm>
            <a:off x="2548105" y="2704371"/>
            <a:ext cx="204651" cy="1540317"/>
          </a:xfrm>
          <a:prstGeom prst="round2SameRect">
            <a:avLst/>
          </a:prstGeom>
          <a:solidFill>
            <a:srgbClr val="337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a:extLst>
              <a:ext uri="{FF2B5EF4-FFF2-40B4-BE49-F238E27FC236}">
                <a16:creationId xmlns:a16="http://schemas.microsoft.com/office/drawing/2014/main" id="{B308CBE8-3931-EE8D-E67B-A72C9F3F5C29}"/>
              </a:ext>
            </a:extLst>
          </p:cNvPr>
          <p:cNvSpPr txBox="1"/>
          <p:nvPr/>
        </p:nvSpPr>
        <p:spPr>
          <a:xfrm>
            <a:off x="2474401" y="4245000"/>
            <a:ext cx="410130" cy="201662"/>
          </a:xfrm>
          <a:prstGeom prst="round2SameRect">
            <a:avLst/>
          </a:prstGeom>
          <a:noFill/>
        </p:spPr>
        <p:txBody>
          <a:bodyPr wrap="square">
            <a:spAutoFit/>
          </a:bodyPr>
          <a:lstStyle/>
          <a:p>
            <a:pPr algn="ctr"/>
            <a:r>
              <a:rPr sz="650">
                <a:solidFill>
                  <a:srgbClr val="414141"/>
                </a:solidFill>
                <a:latin typeface="Aptos"/>
              </a:rPr>
              <a:t>Jul</a:t>
            </a:r>
          </a:p>
        </p:txBody>
      </p:sp>
      <p:sp>
        <p:nvSpPr>
          <p:cNvPr id="119" name="Rectangle: Top Corners Rounded 118">
            <a:extLst>
              <a:ext uri="{FF2B5EF4-FFF2-40B4-BE49-F238E27FC236}">
                <a16:creationId xmlns:a16="http://schemas.microsoft.com/office/drawing/2014/main" id="{850ED923-2B74-BE66-0BA2-2BD316F54ACA}"/>
              </a:ext>
            </a:extLst>
          </p:cNvPr>
          <p:cNvSpPr/>
          <p:nvPr/>
        </p:nvSpPr>
        <p:spPr>
          <a:xfrm>
            <a:off x="2799223" y="2765546"/>
            <a:ext cx="204651" cy="1477102"/>
          </a:xfrm>
          <a:prstGeom prst="round2SameRect">
            <a:avLst/>
          </a:prstGeom>
          <a:solidFill>
            <a:srgbClr val="508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a:extLst>
              <a:ext uri="{FF2B5EF4-FFF2-40B4-BE49-F238E27FC236}">
                <a16:creationId xmlns:a16="http://schemas.microsoft.com/office/drawing/2014/main" id="{38AA1D75-D35D-8DF6-EE20-659123BB4DDE}"/>
              </a:ext>
            </a:extLst>
          </p:cNvPr>
          <p:cNvSpPr txBox="1"/>
          <p:nvPr/>
        </p:nvSpPr>
        <p:spPr>
          <a:xfrm>
            <a:off x="2725519" y="4245000"/>
            <a:ext cx="410130" cy="201662"/>
          </a:xfrm>
          <a:prstGeom prst="round2SameRect">
            <a:avLst/>
          </a:prstGeom>
          <a:noFill/>
        </p:spPr>
        <p:txBody>
          <a:bodyPr wrap="square">
            <a:spAutoFit/>
          </a:bodyPr>
          <a:lstStyle/>
          <a:p>
            <a:pPr algn="ctr"/>
            <a:r>
              <a:rPr sz="650">
                <a:solidFill>
                  <a:srgbClr val="414141"/>
                </a:solidFill>
                <a:latin typeface="Aptos"/>
              </a:rPr>
              <a:t>Aug</a:t>
            </a:r>
          </a:p>
        </p:txBody>
      </p:sp>
      <p:sp>
        <p:nvSpPr>
          <p:cNvPr id="123" name="Rectangle: Top Corners Rounded 122">
            <a:extLst>
              <a:ext uri="{FF2B5EF4-FFF2-40B4-BE49-F238E27FC236}">
                <a16:creationId xmlns:a16="http://schemas.microsoft.com/office/drawing/2014/main" id="{9C9A94DA-C22E-055A-5192-3842F028EA38}"/>
              </a:ext>
            </a:extLst>
          </p:cNvPr>
          <p:cNvSpPr/>
          <p:nvPr/>
        </p:nvSpPr>
        <p:spPr>
          <a:xfrm>
            <a:off x="3050341" y="2717581"/>
            <a:ext cx="204651" cy="1526666"/>
          </a:xfrm>
          <a:prstGeom prst="round2SameRect">
            <a:avLst/>
          </a:prstGeom>
          <a:solidFill>
            <a:srgbClr val="397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a:extLst>
              <a:ext uri="{FF2B5EF4-FFF2-40B4-BE49-F238E27FC236}">
                <a16:creationId xmlns:a16="http://schemas.microsoft.com/office/drawing/2014/main" id="{39E97609-C9D5-E76F-A8A7-F8CE221C9ADD}"/>
              </a:ext>
            </a:extLst>
          </p:cNvPr>
          <p:cNvSpPr txBox="1"/>
          <p:nvPr/>
        </p:nvSpPr>
        <p:spPr>
          <a:xfrm>
            <a:off x="2976637" y="4245000"/>
            <a:ext cx="410130" cy="201662"/>
          </a:xfrm>
          <a:prstGeom prst="round2SameRect">
            <a:avLst/>
          </a:prstGeom>
          <a:noFill/>
        </p:spPr>
        <p:txBody>
          <a:bodyPr wrap="square">
            <a:spAutoFit/>
          </a:bodyPr>
          <a:lstStyle/>
          <a:p>
            <a:pPr algn="ctr"/>
            <a:r>
              <a:rPr sz="650">
                <a:solidFill>
                  <a:srgbClr val="414141"/>
                </a:solidFill>
                <a:latin typeface="Aptos"/>
              </a:rPr>
              <a:t>Sep</a:t>
            </a:r>
          </a:p>
        </p:txBody>
      </p:sp>
      <p:sp>
        <p:nvSpPr>
          <p:cNvPr id="127" name="Rectangle: Top Corners Rounded 126">
            <a:extLst>
              <a:ext uri="{FF2B5EF4-FFF2-40B4-BE49-F238E27FC236}">
                <a16:creationId xmlns:a16="http://schemas.microsoft.com/office/drawing/2014/main" id="{DD48E85D-98EC-3763-E50C-9B381A4DF98D}"/>
              </a:ext>
            </a:extLst>
          </p:cNvPr>
          <p:cNvSpPr/>
          <p:nvPr/>
        </p:nvSpPr>
        <p:spPr>
          <a:xfrm>
            <a:off x="3301459" y="2779277"/>
            <a:ext cx="204651" cy="1462914"/>
          </a:xfrm>
          <a:prstGeom prst="round2SameRect">
            <a:avLst/>
          </a:prstGeom>
          <a:solidFill>
            <a:srgbClr val="56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a:extLst>
              <a:ext uri="{FF2B5EF4-FFF2-40B4-BE49-F238E27FC236}">
                <a16:creationId xmlns:a16="http://schemas.microsoft.com/office/drawing/2014/main" id="{5035E978-F8DD-B54C-295F-688EFDE4B667}"/>
              </a:ext>
            </a:extLst>
          </p:cNvPr>
          <p:cNvSpPr txBox="1"/>
          <p:nvPr/>
        </p:nvSpPr>
        <p:spPr>
          <a:xfrm>
            <a:off x="3227755" y="4245000"/>
            <a:ext cx="410130" cy="201662"/>
          </a:xfrm>
          <a:prstGeom prst="round2SameRect">
            <a:avLst/>
          </a:prstGeom>
          <a:noFill/>
        </p:spPr>
        <p:txBody>
          <a:bodyPr wrap="square">
            <a:spAutoFit/>
          </a:bodyPr>
          <a:lstStyle/>
          <a:p>
            <a:pPr algn="ctr"/>
            <a:r>
              <a:rPr sz="650">
                <a:solidFill>
                  <a:srgbClr val="414141"/>
                </a:solidFill>
                <a:latin typeface="Aptos"/>
              </a:rPr>
              <a:t>Oct</a:t>
            </a:r>
          </a:p>
        </p:txBody>
      </p:sp>
      <p:sp>
        <p:nvSpPr>
          <p:cNvPr id="131" name="Rectangle: Top Corners Rounded 130">
            <a:extLst>
              <a:ext uri="{FF2B5EF4-FFF2-40B4-BE49-F238E27FC236}">
                <a16:creationId xmlns:a16="http://schemas.microsoft.com/office/drawing/2014/main" id="{0D68BB21-A632-DEDC-40D7-03C32C8CCFBF}"/>
              </a:ext>
            </a:extLst>
          </p:cNvPr>
          <p:cNvSpPr/>
          <p:nvPr/>
        </p:nvSpPr>
        <p:spPr>
          <a:xfrm>
            <a:off x="3552577" y="2718233"/>
            <a:ext cx="204651" cy="1525993"/>
          </a:xfrm>
          <a:prstGeom prst="round2SameRect">
            <a:avLst/>
          </a:prstGeom>
          <a:solidFill>
            <a:srgbClr val="397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a:extLst>
              <a:ext uri="{FF2B5EF4-FFF2-40B4-BE49-F238E27FC236}">
                <a16:creationId xmlns:a16="http://schemas.microsoft.com/office/drawing/2014/main" id="{A7D0754C-2FF0-252A-1B88-85F1B42F3460}"/>
              </a:ext>
            </a:extLst>
          </p:cNvPr>
          <p:cNvSpPr txBox="1"/>
          <p:nvPr/>
        </p:nvSpPr>
        <p:spPr>
          <a:xfrm>
            <a:off x="3478873" y="4245000"/>
            <a:ext cx="410130" cy="201662"/>
          </a:xfrm>
          <a:prstGeom prst="round2SameRect">
            <a:avLst/>
          </a:prstGeom>
          <a:noFill/>
        </p:spPr>
        <p:txBody>
          <a:bodyPr wrap="square">
            <a:spAutoFit/>
          </a:bodyPr>
          <a:lstStyle/>
          <a:p>
            <a:pPr algn="ctr"/>
            <a:r>
              <a:rPr sz="650">
                <a:solidFill>
                  <a:srgbClr val="414141"/>
                </a:solidFill>
                <a:latin typeface="Aptos"/>
              </a:rPr>
              <a:t>Nov</a:t>
            </a:r>
          </a:p>
        </p:txBody>
      </p:sp>
      <p:sp>
        <p:nvSpPr>
          <p:cNvPr id="135" name="Rectangle: Top Corners Rounded 134">
            <a:extLst>
              <a:ext uri="{FF2B5EF4-FFF2-40B4-BE49-F238E27FC236}">
                <a16:creationId xmlns:a16="http://schemas.microsoft.com/office/drawing/2014/main" id="{35C3FE9C-9294-4590-7A8B-91CA7552CB0F}"/>
              </a:ext>
            </a:extLst>
          </p:cNvPr>
          <p:cNvSpPr/>
          <p:nvPr/>
        </p:nvSpPr>
        <p:spPr>
          <a:xfrm>
            <a:off x="3803695" y="2813885"/>
            <a:ext cx="204651" cy="1427151"/>
          </a:xfrm>
          <a:prstGeom prst="round2SameRect">
            <a:avLst/>
          </a:prstGeom>
          <a:solidFill>
            <a:srgbClr val="689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a:extLst>
              <a:ext uri="{FF2B5EF4-FFF2-40B4-BE49-F238E27FC236}">
                <a16:creationId xmlns:a16="http://schemas.microsoft.com/office/drawing/2014/main" id="{7F41526F-A591-CF07-6903-664FBA1E224A}"/>
              </a:ext>
            </a:extLst>
          </p:cNvPr>
          <p:cNvSpPr txBox="1"/>
          <p:nvPr/>
        </p:nvSpPr>
        <p:spPr>
          <a:xfrm>
            <a:off x="3729991" y="4245000"/>
            <a:ext cx="410130" cy="201662"/>
          </a:xfrm>
          <a:prstGeom prst="round2SameRect">
            <a:avLst/>
          </a:prstGeom>
          <a:noFill/>
        </p:spPr>
        <p:txBody>
          <a:bodyPr wrap="square">
            <a:spAutoFit/>
          </a:bodyPr>
          <a:lstStyle/>
          <a:p>
            <a:pPr algn="ctr"/>
            <a:r>
              <a:rPr sz="650">
                <a:solidFill>
                  <a:srgbClr val="414141"/>
                </a:solidFill>
                <a:latin typeface="Aptos"/>
              </a:rPr>
              <a:t>Dec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PRODUCTS · DISCOUNTS</a:t>
            </a:r>
            <a:endParaRPr lang="en-US" sz="1200" dirty="0"/>
          </a:p>
        </p:txBody>
      </p:sp>
      <p:sp>
        <p:nvSpPr>
          <p:cNvPr id="3" name="Text 1"/>
          <p:cNvSpPr>
            <a:spLocks noGrp="1"/>
          </p:cNvSpPr>
          <p:nvPr>
            <p:ph type="title"/>
          </p:nvPr>
        </p:nvSpPr>
        <p:spPr>
          <a:xfrm>
            <a:off x="812800" y="1127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Product Popularity &amp; Discount Impact</a:t>
            </a:r>
            <a:endParaRPr lang="en-US" sz="3000" dirty="0"/>
          </a:p>
        </p:txBody>
      </p:sp>
      <p:sp>
        <p:nvSpPr>
          <p:cNvPr id="4" name="Shape 2"/>
          <p:cNvSpPr/>
          <p:nvPr/>
        </p:nvSpPr>
        <p:spPr>
          <a:xfrm>
            <a:off x="812800" y="1819911"/>
            <a:ext cx="5384800" cy="4022090"/>
          </a:xfrm>
          <a:prstGeom prst="roundRect">
            <a:avLst>
              <a:gd name="adj" fmla="val 3158"/>
            </a:avLst>
          </a:prstGeom>
          <a:solidFill>
            <a:srgbClr val="EEF2F8"/>
          </a:solidFill>
          <a:ln/>
        </p:spPr>
        <p:txBody>
          <a:bodyPr/>
          <a:lstStyle/>
          <a:p>
            <a:endParaRPr lang="en-IN"/>
          </a:p>
        </p:txBody>
      </p:sp>
      <p:sp>
        <p:nvSpPr>
          <p:cNvPr id="5" name="Text 3"/>
          <p:cNvSpPr/>
          <p:nvPr/>
        </p:nvSpPr>
        <p:spPr>
          <a:xfrm>
            <a:off x="1041400" y="2048511"/>
            <a:ext cx="5075428" cy="238760"/>
          </a:xfrm>
          <a:prstGeom prst="rect">
            <a:avLst/>
          </a:prstGeom>
          <a:noFill/>
          <a:ln/>
        </p:spPr>
        <p:txBody>
          <a:bodyPr wrap="square" lIns="0" tIns="0" rIns="0" bIns="0" rtlCol="0" anchor="t">
            <a:normAutofit/>
          </a:bodyPr>
          <a:lstStyle/>
          <a:p>
            <a:pPr marL="0" indent="0" algn="l">
              <a:lnSpc>
                <a:spcPct val="100000"/>
              </a:lnSpc>
              <a:buNone/>
            </a:pPr>
            <a:r>
              <a:rPr lang="en-US" sz="1400" b="1" dirty="0">
                <a:solidFill>
                  <a:srgbClr val="14213D"/>
                </a:solidFill>
                <a:latin typeface="IBM Plex Sans" pitchFamily="34" charset="0"/>
                <a:ea typeface="IBM Plex Sans" pitchFamily="34" charset="-122"/>
                <a:cs typeface="IBM Plex Sans" pitchFamily="34" charset="-120"/>
              </a:rPr>
              <a:t>Discount Depth vs Average Order Value</a:t>
            </a:r>
            <a:endParaRPr lang="en-US" sz="1400" dirty="0"/>
          </a:p>
        </p:txBody>
      </p:sp>
      <p:sp>
        <p:nvSpPr>
          <p:cNvPr id="6" name="Shape 4"/>
          <p:cNvSpPr/>
          <p:nvPr/>
        </p:nvSpPr>
        <p:spPr>
          <a:xfrm>
            <a:off x="1041400" y="2425959"/>
            <a:ext cx="406400" cy="1878956"/>
          </a:xfrm>
          <a:custGeom>
            <a:avLst/>
            <a:gdLst/>
            <a:ahLst/>
            <a:cxnLst/>
            <a:rect l="l" t="t" r="r" b="b"/>
            <a:pathLst>
              <a:path w="406400" h="1651000">
                <a:moveTo>
                  <a:pt x="50800" y="0"/>
                </a:moveTo>
                <a:lnTo>
                  <a:pt x="355600" y="0"/>
                </a:lnTo>
                <a:arcTo wR="50800" hR="50800" stAng="16200000" swAng="5400000"/>
                <a:lnTo>
                  <a:pt x="406400" y="1651000"/>
                </a:lnTo>
                <a:lnTo>
                  <a:pt x="0" y="1651000"/>
                </a:lnTo>
                <a:lnTo>
                  <a:pt x="0" y="50800"/>
                </a:lnTo>
                <a:arcTo wR="50800" hR="50800" stAng="10800000" swAng="5400000"/>
                <a:close/>
              </a:path>
            </a:pathLst>
          </a:custGeom>
          <a:solidFill>
            <a:srgbClr val="2F6FED"/>
          </a:solidFill>
          <a:ln/>
        </p:spPr>
        <p:txBody>
          <a:bodyPr/>
          <a:lstStyle/>
          <a:p>
            <a:endParaRPr lang="en-IN"/>
          </a:p>
        </p:txBody>
      </p:sp>
      <p:sp>
        <p:nvSpPr>
          <p:cNvPr id="7" name="Text 5"/>
          <p:cNvSpPr/>
          <p:nvPr/>
        </p:nvSpPr>
        <p:spPr>
          <a:xfrm>
            <a:off x="1131888" y="4330114"/>
            <a:ext cx="225346" cy="211021"/>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4A5568"/>
                </a:solidFill>
                <a:latin typeface="IBM Plex Sans" pitchFamily="34" charset="0"/>
                <a:ea typeface="IBM Plex Sans" pitchFamily="34" charset="-122"/>
                <a:cs typeface="IBM Plex Sans" pitchFamily="34" charset="-120"/>
              </a:rPr>
              <a:t>0%</a:t>
            </a:r>
            <a:endParaRPr lang="en-US" sz="900" dirty="0"/>
          </a:p>
        </p:txBody>
      </p:sp>
      <p:sp>
        <p:nvSpPr>
          <p:cNvPr id="8" name="Shape 6"/>
          <p:cNvSpPr/>
          <p:nvPr/>
        </p:nvSpPr>
        <p:spPr>
          <a:xfrm>
            <a:off x="1562100" y="2462093"/>
            <a:ext cx="406400" cy="1842822"/>
          </a:xfrm>
          <a:custGeom>
            <a:avLst/>
            <a:gdLst/>
            <a:ahLst/>
            <a:cxnLst/>
            <a:rect l="l" t="t" r="r" b="b"/>
            <a:pathLst>
              <a:path w="406400" h="1619250">
                <a:moveTo>
                  <a:pt x="50800" y="0"/>
                </a:moveTo>
                <a:lnTo>
                  <a:pt x="355600" y="0"/>
                </a:lnTo>
                <a:arcTo wR="50800" hR="50800" stAng="16200000" swAng="5400000"/>
                <a:lnTo>
                  <a:pt x="406400" y="1619250"/>
                </a:lnTo>
                <a:lnTo>
                  <a:pt x="0" y="1619250"/>
                </a:lnTo>
                <a:lnTo>
                  <a:pt x="0" y="50800"/>
                </a:lnTo>
                <a:arcTo wR="50800" hR="50800" stAng="10800000" swAng="5400000"/>
                <a:close/>
              </a:path>
            </a:pathLst>
          </a:custGeom>
          <a:solidFill>
            <a:srgbClr val="3F7BF0"/>
          </a:solidFill>
          <a:ln/>
        </p:spPr>
        <p:txBody>
          <a:bodyPr/>
          <a:lstStyle/>
          <a:p>
            <a:endParaRPr lang="en-IN"/>
          </a:p>
        </p:txBody>
      </p:sp>
      <p:sp>
        <p:nvSpPr>
          <p:cNvPr id="9" name="Text 7"/>
          <p:cNvSpPr/>
          <p:nvPr/>
        </p:nvSpPr>
        <p:spPr>
          <a:xfrm>
            <a:off x="1652588" y="4330114"/>
            <a:ext cx="225346" cy="211021"/>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4A5568"/>
                </a:solidFill>
                <a:latin typeface="IBM Plex Sans" pitchFamily="34" charset="0"/>
                <a:ea typeface="IBM Plex Sans" pitchFamily="34" charset="-122"/>
                <a:cs typeface="IBM Plex Sans" pitchFamily="34" charset="-120"/>
              </a:rPr>
              <a:t>5%</a:t>
            </a:r>
            <a:endParaRPr lang="en-US" sz="900" dirty="0"/>
          </a:p>
        </p:txBody>
      </p:sp>
      <p:sp>
        <p:nvSpPr>
          <p:cNvPr id="10" name="Shape 8"/>
          <p:cNvSpPr/>
          <p:nvPr/>
        </p:nvSpPr>
        <p:spPr>
          <a:xfrm>
            <a:off x="2082800" y="2584948"/>
            <a:ext cx="406400" cy="1719967"/>
          </a:xfrm>
          <a:custGeom>
            <a:avLst/>
            <a:gdLst/>
            <a:ahLst/>
            <a:cxnLst/>
            <a:rect l="l" t="t" r="r" b="b"/>
            <a:pathLst>
              <a:path w="406400" h="1511300">
                <a:moveTo>
                  <a:pt x="50800" y="0"/>
                </a:moveTo>
                <a:lnTo>
                  <a:pt x="355600" y="0"/>
                </a:lnTo>
                <a:arcTo wR="50800" hR="50800" stAng="16200000" swAng="5400000"/>
                <a:lnTo>
                  <a:pt x="406400" y="1511300"/>
                </a:lnTo>
                <a:lnTo>
                  <a:pt x="0" y="1511300"/>
                </a:lnTo>
                <a:lnTo>
                  <a:pt x="0" y="50800"/>
                </a:lnTo>
                <a:arcTo wR="50800" hR="50800" stAng="10800000" swAng="5400000"/>
                <a:close/>
              </a:path>
            </a:pathLst>
          </a:custGeom>
          <a:solidFill>
            <a:srgbClr val="5A8FF2"/>
          </a:solidFill>
          <a:ln/>
        </p:spPr>
        <p:txBody>
          <a:bodyPr/>
          <a:lstStyle/>
          <a:p>
            <a:endParaRPr lang="en-IN"/>
          </a:p>
        </p:txBody>
      </p:sp>
      <p:sp>
        <p:nvSpPr>
          <p:cNvPr id="11" name="Text 9"/>
          <p:cNvSpPr/>
          <p:nvPr/>
        </p:nvSpPr>
        <p:spPr>
          <a:xfrm>
            <a:off x="2138998" y="4330114"/>
            <a:ext cx="293926" cy="211021"/>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4A5568"/>
                </a:solidFill>
                <a:latin typeface="IBM Plex Sans" pitchFamily="34" charset="0"/>
                <a:ea typeface="IBM Plex Sans" pitchFamily="34" charset="-122"/>
                <a:cs typeface="IBM Plex Sans" pitchFamily="34" charset="-120"/>
              </a:rPr>
              <a:t>10%</a:t>
            </a:r>
            <a:endParaRPr lang="en-US" sz="900" dirty="0"/>
          </a:p>
        </p:txBody>
      </p:sp>
      <p:sp>
        <p:nvSpPr>
          <p:cNvPr id="12" name="Shape 10"/>
          <p:cNvSpPr/>
          <p:nvPr/>
        </p:nvSpPr>
        <p:spPr>
          <a:xfrm>
            <a:off x="2603500" y="2642762"/>
            <a:ext cx="406400" cy="1662153"/>
          </a:xfrm>
          <a:custGeom>
            <a:avLst/>
            <a:gdLst/>
            <a:ahLst/>
            <a:cxnLst/>
            <a:rect l="l" t="t" r="r" b="b"/>
            <a:pathLst>
              <a:path w="406400" h="1460500">
                <a:moveTo>
                  <a:pt x="50800" y="0"/>
                </a:moveTo>
                <a:lnTo>
                  <a:pt x="355600" y="0"/>
                </a:lnTo>
                <a:arcTo wR="50800" hR="50800" stAng="16200000" swAng="5400000"/>
                <a:lnTo>
                  <a:pt x="406400" y="1460500"/>
                </a:lnTo>
                <a:lnTo>
                  <a:pt x="0" y="1460500"/>
                </a:lnTo>
                <a:lnTo>
                  <a:pt x="0" y="50800"/>
                </a:lnTo>
                <a:arcTo wR="50800" hR="50800" stAng="10800000" swAng="5400000"/>
                <a:close/>
              </a:path>
            </a:pathLst>
          </a:custGeom>
          <a:solidFill>
            <a:srgbClr val="76A3F4"/>
          </a:solidFill>
          <a:ln/>
        </p:spPr>
        <p:txBody>
          <a:bodyPr/>
          <a:lstStyle/>
          <a:p>
            <a:endParaRPr lang="en-IN"/>
          </a:p>
        </p:txBody>
      </p:sp>
      <p:sp>
        <p:nvSpPr>
          <p:cNvPr id="13" name="Text 11"/>
          <p:cNvSpPr/>
          <p:nvPr/>
        </p:nvSpPr>
        <p:spPr>
          <a:xfrm>
            <a:off x="2659698" y="4330114"/>
            <a:ext cx="293926" cy="211021"/>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4A5568"/>
                </a:solidFill>
                <a:latin typeface="IBM Plex Sans" pitchFamily="34" charset="0"/>
                <a:ea typeface="IBM Plex Sans" pitchFamily="34" charset="-122"/>
                <a:cs typeface="IBM Plex Sans" pitchFamily="34" charset="-120"/>
              </a:rPr>
              <a:t>15%</a:t>
            </a:r>
            <a:endParaRPr lang="en-US" sz="900" dirty="0"/>
          </a:p>
        </p:txBody>
      </p:sp>
      <p:sp>
        <p:nvSpPr>
          <p:cNvPr id="14" name="Shape 12"/>
          <p:cNvSpPr/>
          <p:nvPr/>
        </p:nvSpPr>
        <p:spPr>
          <a:xfrm>
            <a:off x="3124200" y="2743936"/>
            <a:ext cx="406400" cy="1560979"/>
          </a:xfrm>
          <a:custGeom>
            <a:avLst/>
            <a:gdLst/>
            <a:ahLst/>
            <a:cxnLst/>
            <a:rect l="l" t="t" r="r" b="b"/>
            <a:pathLst>
              <a:path w="406400" h="1371600">
                <a:moveTo>
                  <a:pt x="50800" y="0"/>
                </a:moveTo>
                <a:lnTo>
                  <a:pt x="355600" y="0"/>
                </a:lnTo>
                <a:arcTo wR="50800" hR="50800" stAng="16200000" swAng="5400000"/>
                <a:lnTo>
                  <a:pt x="406400" y="1371600"/>
                </a:lnTo>
                <a:lnTo>
                  <a:pt x="0" y="1371600"/>
                </a:lnTo>
                <a:lnTo>
                  <a:pt x="0" y="50800"/>
                </a:lnTo>
                <a:arcTo wR="50800" hR="50800" stAng="10800000" swAng="5400000"/>
                <a:close/>
              </a:path>
            </a:pathLst>
          </a:custGeom>
          <a:solidFill>
            <a:srgbClr val="92B6F6"/>
          </a:solidFill>
          <a:ln/>
        </p:spPr>
        <p:txBody>
          <a:bodyPr/>
          <a:lstStyle/>
          <a:p>
            <a:endParaRPr lang="en-IN"/>
          </a:p>
        </p:txBody>
      </p:sp>
      <p:sp>
        <p:nvSpPr>
          <p:cNvPr id="15" name="Text 13"/>
          <p:cNvSpPr/>
          <p:nvPr/>
        </p:nvSpPr>
        <p:spPr>
          <a:xfrm>
            <a:off x="3180398" y="4330114"/>
            <a:ext cx="293926" cy="211021"/>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4A5568"/>
                </a:solidFill>
                <a:latin typeface="IBM Plex Sans" pitchFamily="34" charset="0"/>
                <a:ea typeface="IBM Plex Sans" pitchFamily="34" charset="-122"/>
                <a:cs typeface="IBM Plex Sans" pitchFamily="34" charset="-120"/>
              </a:rPr>
              <a:t>20%</a:t>
            </a:r>
            <a:endParaRPr lang="en-US" sz="900" dirty="0"/>
          </a:p>
        </p:txBody>
      </p:sp>
      <p:sp>
        <p:nvSpPr>
          <p:cNvPr id="16" name="Shape 14"/>
          <p:cNvSpPr/>
          <p:nvPr/>
        </p:nvSpPr>
        <p:spPr>
          <a:xfrm>
            <a:off x="3644900" y="2902925"/>
            <a:ext cx="406400" cy="1401990"/>
          </a:xfrm>
          <a:custGeom>
            <a:avLst/>
            <a:gdLst/>
            <a:ahLst/>
            <a:cxnLst/>
            <a:rect l="l" t="t" r="r" b="b"/>
            <a:pathLst>
              <a:path w="406400" h="1231900">
                <a:moveTo>
                  <a:pt x="50800" y="0"/>
                </a:moveTo>
                <a:lnTo>
                  <a:pt x="355600" y="0"/>
                </a:lnTo>
                <a:arcTo wR="50800" hR="50800" stAng="16200000" swAng="5400000"/>
                <a:lnTo>
                  <a:pt x="406400" y="1231900"/>
                </a:lnTo>
                <a:lnTo>
                  <a:pt x="0" y="1231900"/>
                </a:lnTo>
                <a:lnTo>
                  <a:pt x="0" y="50800"/>
                </a:lnTo>
                <a:arcTo wR="50800" hR="50800" stAng="10800000" swAng="5400000"/>
                <a:close/>
              </a:path>
            </a:pathLst>
          </a:custGeom>
          <a:solidFill>
            <a:srgbClr val="AECAF9"/>
          </a:solidFill>
          <a:ln/>
        </p:spPr>
        <p:txBody>
          <a:bodyPr/>
          <a:lstStyle/>
          <a:p>
            <a:endParaRPr lang="en-IN"/>
          </a:p>
        </p:txBody>
      </p:sp>
      <p:sp>
        <p:nvSpPr>
          <p:cNvPr id="17" name="Text 15"/>
          <p:cNvSpPr/>
          <p:nvPr/>
        </p:nvSpPr>
        <p:spPr>
          <a:xfrm>
            <a:off x="3701098" y="4330114"/>
            <a:ext cx="293926" cy="211021"/>
          </a:xfrm>
          <a:prstGeom prst="rect">
            <a:avLst/>
          </a:prstGeom>
          <a:noFill/>
          <a:ln/>
        </p:spPr>
        <p:txBody>
          <a:bodyPr wrap="square" lIns="0" tIns="0" rIns="0" bIns="0" rtlCol="0" anchor="t">
            <a:normAutofit/>
          </a:bodyPr>
          <a:lstStyle/>
          <a:p>
            <a:pPr marL="0" indent="0" algn="ctr">
              <a:lnSpc>
                <a:spcPts val="1260"/>
              </a:lnSpc>
              <a:buNone/>
            </a:pPr>
            <a:r>
              <a:rPr lang="en-US" sz="900" dirty="0">
                <a:solidFill>
                  <a:srgbClr val="4A5568"/>
                </a:solidFill>
                <a:latin typeface="IBM Plex Sans" pitchFamily="34" charset="0"/>
                <a:ea typeface="IBM Plex Sans" pitchFamily="34" charset="-122"/>
                <a:cs typeface="IBM Plex Sans" pitchFamily="34" charset="-120"/>
              </a:rPr>
              <a:t>30%</a:t>
            </a:r>
            <a:endParaRPr lang="en-US" sz="900" dirty="0"/>
          </a:p>
        </p:txBody>
      </p:sp>
      <p:sp>
        <p:nvSpPr>
          <p:cNvPr id="18" name="Text 16"/>
          <p:cNvSpPr/>
          <p:nvPr/>
        </p:nvSpPr>
        <p:spPr>
          <a:xfrm>
            <a:off x="1041400" y="4857345"/>
            <a:ext cx="5075428" cy="4165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AOV declines steadily as discount depth increases — from ₹5,971.73 at 0% to ₹4,462.33 at 30%.</a:t>
            </a:r>
            <a:endParaRPr lang="en-US" sz="1100" dirty="0"/>
          </a:p>
        </p:txBody>
      </p:sp>
      <p:sp>
        <p:nvSpPr>
          <p:cNvPr id="19" name="Shape 17"/>
          <p:cNvSpPr/>
          <p:nvPr/>
        </p:nvSpPr>
        <p:spPr>
          <a:xfrm>
            <a:off x="6451600" y="1819911"/>
            <a:ext cx="4927600" cy="1934845"/>
          </a:xfrm>
          <a:prstGeom prst="roundRect">
            <a:avLst>
              <a:gd name="adj" fmla="val 6564"/>
            </a:avLst>
          </a:prstGeom>
          <a:solidFill>
            <a:srgbClr val="14213D"/>
          </a:solidFill>
          <a:ln/>
        </p:spPr>
        <p:txBody>
          <a:bodyPr/>
          <a:lstStyle/>
          <a:p>
            <a:endParaRPr lang="en-IN"/>
          </a:p>
        </p:txBody>
      </p:sp>
      <p:sp>
        <p:nvSpPr>
          <p:cNvPr id="20" name="Text 18"/>
          <p:cNvSpPr/>
          <p:nvPr/>
        </p:nvSpPr>
        <p:spPr>
          <a:xfrm>
            <a:off x="6654800" y="2023111"/>
            <a:ext cx="4656836"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FBFBF8"/>
                </a:solidFill>
                <a:latin typeface="IBM Plex Sans" pitchFamily="34" charset="0"/>
                <a:ea typeface="IBM Plex Sans" pitchFamily="34" charset="-122"/>
                <a:cs typeface="IBM Plex Sans" pitchFamily="34" charset="-120"/>
              </a:rPr>
              <a:t>Top-Selling Products (by Qty)</a:t>
            </a:r>
            <a:endParaRPr lang="en-US" sz="1300" dirty="0"/>
          </a:p>
        </p:txBody>
      </p:sp>
      <p:sp>
        <p:nvSpPr>
          <p:cNvPr id="21" name="Text 19"/>
          <p:cNvSpPr/>
          <p:nvPr/>
        </p:nvSpPr>
        <p:spPr>
          <a:xfrm>
            <a:off x="6654800" y="2297432"/>
            <a:ext cx="4656836" cy="1131568"/>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C3D2EA"/>
                </a:solidFill>
                <a:latin typeface="IBM Plex Sans" pitchFamily="34" charset="0"/>
                <a:ea typeface="IBM Plex Sans" pitchFamily="34" charset="-122"/>
                <a:cs typeface="IBM Plex Sans" pitchFamily="34" charset="-120"/>
              </a:rPr>
              <a:t>Face Wash · Moisturizer · Running Shoes · Cricket Bat · Storage Box</a:t>
            </a:r>
            <a:endParaRPr lang="en-US" sz="1100" dirty="0"/>
          </a:p>
        </p:txBody>
      </p:sp>
      <p:sp>
        <p:nvSpPr>
          <p:cNvPr id="22" name="Shape 20"/>
          <p:cNvSpPr/>
          <p:nvPr/>
        </p:nvSpPr>
        <p:spPr>
          <a:xfrm>
            <a:off x="6451600" y="3907157"/>
            <a:ext cx="4927600" cy="1934845"/>
          </a:xfrm>
          <a:prstGeom prst="roundRect">
            <a:avLst>
              <a:gd name="adj" fmla="val 6564"/>
            </a:avLst>
          </a:prstGeom>
          <a:solidFill>
            <a:schemeClr val="accent1"/>
          </a:solidFill>
          <a:ln/>
        </p:spPr>
        <p:txBody>
          <a:bodyPr/>
          <a:lstStyle/>
          <a:p>
            <a:endParaRPr lang="en-IN">
              <a:solidFill>
                <a:schemeClr val="accent1"/>
              </a:solidFill>
            </a:endParaRPr>
          </a:p>
        </p:txBody>
      </p:sp>
      <p:sp>
        <p:nvSpPr>
          <p:cNvPr id="23" name="Text 21"/>
          <p:cNvSpPr/>
          <p:nvPr/>
        </p:nvSpPr>
        <p:spPr>
          <a:xfrm>
            <a:off x="6654800" y="4110357"/>
            <a:ext cx="4656836"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chemeClr val="bg1"/>
                </a:solidFill>
                <a:latin typeface="IBM Plex Sans" pitchFamily="34" charset="0"/>
                <a:ea typeface="IBM Plex Sans" pitchFamily="34" charset="-122"/>
                <a:cs typeface="IBM Plex Sans" pitchFamily="34" charset="-120"/>
              </a:rPr>
              <a:t>Least-Selling Products (by Qty)</a:t>
            </a:r>
            <a:endParaRPr lang="en-US" sz="1300" dirty="0">
              <a:solidFill>
                <a:schemeClr val="bg1"/>
              </a:solidFill>
            </a:endParaRPr>
          </a:p>
        </p:txBody>
      </p:sp>
      <p:sp>
        <p:nvSpPr>
          <p:cNvPr id="24" name="Text 22"/>
          <p:cNvSpPr/>
          <p:nvPr/>
        </p:nvSpPr>
        <p:spPr>
          <a:xfrm>
            <a:off x="6654800" y="4384675"/>
            <a:ext cx="4656836"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chemeClr val="bg1"/>
                </a:solidFill>
                <a:latin typeface="IBM Plex Sans" pitchFamily="34" charset="0"/>
                <a:ea typeface="IBM Plex Sans" pitchFamily="34" charset="-122"/>
                <a:cs typeface="IBM Plex Sans" pitchFamily="34" charset="-120"/>
              </a:rPr>
              <a:t>Power Bank · Sneakers · Perfume · Smart Watch · Bluetooth Speaker</a:t>
            </a:r>
            <a:endParaRPr lang="en-US" sz="1100" dirty="0">
              <a:solidFill>
                <a:schemeClr val="bg1"/>
              </a:solidFill>
            </a:endParaRPr>
          </a:p>
        </p:txBody>
      </p:sp>
      <p:sp>
        <p:nvSpPr>
          <p:cNvPr id="25" name="Text 23"/>
          <p:cNvSpPr/>
          <p:nvPr/>
        </p:nvSpPr>
        <p:spPr>
          <a:xfrm>
            <a:off x="812800" y="6238239"/>
            <a:ext cx="41698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200" dirty="0"/>
          </a:p>
        </p:txBody>
      </p:sp>
      <p:sp>
        <p:nvSpPr>
          <p:cNvPr id="26" name="Text 24"/>
          <p:cNvSpPr/>
          <p:nvPr/>
        </p:nvSpPr>
        <p:spPr>
          <a:xfrm>
            <a:off x="11196320" y="6238239"/>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ORDER FULFILLMENT</a:t>
            </a:r>
            <a:endParaRPr lang="en-US" sz="1200" dirty="0"/>
          </a:p>
        </p:txBody>
      </p:sp>
      <p:sp>
        <p:nvSpPr>
          <p:cNvPr id="3" name="Text 1"/>
          <p:cNvSpPr>
            <a:spLocks noGrp="1"/>
          </p:cNvSpPr>
          <p:nvPr>
            <p:ph type="title"/>
          </p:nvPr>
        </p:nvSpPr>
        <p:spPr>
          <a:xfrm>
            <a:off x="812800" y="1127761"/>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Rubik" pitchFamily="34" charset="0"/>
                <a:ea typeface="Rubik" pitchFamily="34" charset="-122"/>
                <a:cs typeface="Rubik" pitchFamily="34" charset="-120"/>
              </a:rPr>
              <a:t>Cancellations &amp; Returns</a:t>
            </a:r>
            <a:endParaRPr lang="en-US" sz="3000" dirty="0"/>
          </a:p>
        </p:txBody>
      </p:sp>
      <p:sp>
        <p:nvSpPr>
          <p:cNvPr id="4" name="Shape 2"/>
          <p:cNvSpPr/>
          <p:nvPr/>
        </p:nvSpPr>
        <p:spPr>
          <a:xfrm>
            <a:off x="812800" y="1819911"/>
            <a:ext cx="3420507" cy="1043940"/>
          </a:xfrm>
          <a:prstGeom prst="roundRect">
            <a:avLst>
              <a:gd name="adj" fmla="val 12165"/>
            </a:avLst>
          </a:prstGeom>
          <a:solidFill>
            <a:srgbClr val="14213D"/>
          </a:solidFill>
          <a:ln/>
        </p:spPr>
        <p:txBody>
          <a:bodyPr/>
          <a:lstStyle/>
          <a:p>
            <a:endParaRPr lang="en-IN"/>
          </a:p>
        </p:txBody>
      </p:sp>
      <p:sp>
        <p:nvSpPr>
          <p:cNvPr id="5" name="Text 3"/>
          <p:cNvSpPr/>
          <p:nvPr/>
        </p:nvSpPr>
        <p:spPr>
          <a:xfrm>
            <a:off x="1016000" y="2023111"/>
            <a:ext cx="3104530" cy="220980"/>
          </a:xfrm>
          <a:prstGeom prst="rect">
            <a:avLst/>
          </a:prstGeom>
          <a:noFill/>
          <a:ln/>
        </p:spPr>
        <p:txBody>
          <a:bodyPr wrap="square" lIns="0" tIns="0" rIns="0" bIns="0" rtlCol="0" anchor="t">
            <a:normAutofit/>
          </a:bodyPr>
          <a:lstStyle/>
          <a:p>
            <a:pPr marL="0" indent="0" algn="l">
              <a:lnSpc>
                <a:spcPts val="1540"/>
              </a:lnSpc>
              <a:buNone/>
            </a:pPr>
            <a:r>
              <a:rPr lang="en-US" sz="1100" b="1" kern="0" spc="50" dirty="0">
                <a:solidFill>
                  <a:srgbClr val="8FA6CC"/>
                </a:solidFill>
                <a:latin typeface="IBM Plex Sans" pitchFamily="34" charset="0"/>
                <a:ea typeface="IBM Plex Sans" pitchFamily="34" charset="-122"/>
                <a:cs typeface="IBM Plex Sans" pitchFamily="34" charset="-120"/>
              </a:rPr>
              <a:t>COMPLETED</a:t>
            </a:r>
            <a:endParaRPr lang="en-US" sz="1100" dirty="0"/>
          </a:p>
        </p:txBody>
      </p:sp>
      <p:sp>
        <p:nvSpPr>
          <p:cNvPr id="6" name="Text 4"/>
          <p:cNvSpPr/>
          <p:nvPr/>
        </p:nvSpPr>
        <p:spPr>
          <a:xfrm>
            <a:off x="1016000" y="2269489"/>
            <a:ext cx="310453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BFBF8"/>
                </a:solidFill>
                <a:latin typeface="IBM Plex Sans" pitchFamily="34" charset="0"/>
                <a:ea typeface="IBM Plex Sans" pitchFamily="34" charset="-122"/>
                <a:cs typeface="IBM Plex Sans" pitchFamily="34" charset="-120"/>
              </a:rPr>
              <a:t>15,797 </a:t>
            </a:r>
            <a:r>
              <a:rPr lang="en-US" sz="2200" b="1" dirty="0">
                <a:solidFill>
                  <a:srgbClr val="C3D2EA"/>
                </a:solidFill>
                <a:latin typeface="IBM Plex Sans" pitchFamily="34" charset="0"/>
                <a:ea typeface="IBM Plex Sans" pitchFamily="34" charset="-122"/>
                <a:cs typeface="IBM Plex Sans" pitchFamily="34" charset="-120"/>
              </a:rPr>
              <a:t>(87.76%)</a:t>
            </a:r>
            <a:endParaRPr lang="en-US" sz="2200" dirty="0"/>
          </a:p>
        </p:txBody>
      </p:sp>
      <p:sp>
        <p:nvSpPr>
          <p:cNvPr id="7" name="Shape 5"/>
          <p:cNvSpPr/>
          <p:nvPr/>
        </p:nvSpPr>
        <p:spPr>
          <a:xfrm>
            <a:off x="4385707" y="1819911"/>
            <a:ext cx="3420586" cy="1043940"/>
          </a:xfrm>
          <a:prstGeom prst="roundRect">
            <a:avLst>
              <a:gd name="adj" fmla="val 12165"/>
            </a:avLst>
          </a:prstGeom>
          <a:solidFill>
            <a:srgbClr val="E0A526"/>
          </a:solidFill>
          <a:ln/>
        </p:spPr>
        <p:txBody>
          <a:bodyPr/>
          <a:lstStyle/>
          <a:p>
            <a:endParaRPr lang="en-IN"/>
          </a:p>
        </p:txBody>
      </p:sp>
      <p:sp>
        <p:nvSpPr>
          <p:cNvPr id="8" name="Text 6"/>
          <p:cNvSpPr/>
          <p:nvPr/>
        </p:nvSpPr>
        <p:spPr>
          <a:xfrm>
            <a:off x="4588907" y="2023111"/>
            <a:ext cx="3104612" cy="220980"/>
          </a:xfrm>
          <a:prstGeom prst="rect">
            <a:avLst/>
          </a:prstGeom>
          <a:noFill/>
          <a:ln/>
        </p:spPr>
        <p:txBody>
          <a:bodyPr wrap="square" lIns="0" tIns="0" rIns="0" bIns="0" rtlCol="0" anchor="t">
            <a:normAutofit/>
          </a:bodyPr>
          <a:lstStyle/>
          <a:p>
            <a:pPr marL="0" indent="0" algn="l">
              <a:lnSpc>
                <a:spcPts val="1540"/>
              </a:lnSpc>
              <a:buNone/>
            </a:pPr>
            <a:r>
              <a:rPr lang="en-US" sz="1100" b="1" kern="0" spc="50" dirty="0">
                <a:solidFill>
                  <a:srgbClr val="4A3509"/>
                </a:solidFill>
                <a:latin typeface="IBM Plex Sans" pitchFamily="34" charset="0"/>
                <a:ea typeface="IBM Plex Sans" pitchFamily="34" charset="-122"/>
                <a:cs typeface="IBM Plex Sans" pitchFamily="34" charset="-120"/>
              </a:rPr>
              <a:t>CANCELLED</a:t>
            </a:r>
            <a:endParaRPr lang="en-US" sz="1100" dirty="0"/>
          </a:p>
        </p:txBody>
      </p:sp>
      <p:sp>
        <p:nvSpPr>
          <p:cNvPr id="9" name="Text 7"/>
          <p:cNvSpPr/>
          <p:nvPr/>
        </p:nvSpPr>
        <p:spPr>
          <a:xfrm>
            <a:off x="4588907" y="2269489"/>
            <a:ext cx="310461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D1E04"/>
                </a:solidFill>
                <a:latin typeface="IBM Plex Sans" pitchFamily="34" charset="0"/>
                <a:ea typeface="IBM Plex Sans" pitchFamily="34" charset="-122"/>
                <a:cs typeface="IBM Plex Sans" pitchFamily="34" charset="-120"/>
              </a:rPr>
              <a:t>1,104 </a:t>
            </a:r>
            <a:r>
              <a:rPr lang="en-US" sz="2200" b="1" dirty="0">
                <a:solidFill>
                  <a:srgbClr val="5A4210"/>
                </a:solidFill>
                <a:latin typeface="IBM Plex Sans" pitchFamily="34" charset="0"/>
                <a:ea typeface="IBM Plex Sans" pitchFamily="34" charset="-122"/>
                <a:cs typeface="IBM Plex Sans" pitchFamily="34" charset="-120"/>
              </a:rPr>
              <a:t>(6.13%)</a:t>
            </a:r>
            <a:endParaRPr lang="en-US" sz="2200" dirty="0"/>
          </a:p>
        </p:txBody>
      </p:sp>
      <p:sp>
        <p:nvSpPr>
          <p:cNvPr id="10" name="Shape 8"/>
          <p:cNvSpPr/>
          <p:nvPr/>
        </p:nvSpPr>
        <p:spPr>
          <a:xfrm>
            <a:off x="7958693" y="1819911"/>
            <a:ext cx="3420507" cy="1043940"/>
          </a:xfrm>
          <a:prstGeom prst="roundRect">
            <a:avLst>
              <a:gd name="adj" fmla="val 12165"/>
            </a:avLst>
          </a:prstGeom>
          <a:solidFill>
            <a:srgbClr val="14213D"/>
          </a:solidFill>
          <a:ln/>
        </p:spPr>
        <p:txBody>
          <a:bodyPr/>
          <a:lstStyle/>
          <a:p>
            <a:endParaRPr lang="en-IN"/>
          </a:p>
        </p:txBody>
      </p:sp>
      <p:sp>
        <p:nvSpPr>
          <p:cNvPr id="11" name="Text 9"/>
          <p:cNvSpPr/>
          <p:nvPr/>
        </p:nvSpPr>
        <p:spPr>
          <a:xfrm>
            <a:off x="8161893" y="2023111"/>
            <a:ext cx="3104530" cy="220980"/>
          </a:xfrm>
          <a:prstGeom prst="rect">
            <a:avLst/>
          </a:prstGeom>
          <a:noFill/>
          <a:ln/>
        </p:spPr>
        <p:txBody>
          <a:bodyPr wrap="square" lIns="0" tIns="0" rIns="0" bIns="0" rtlCol="0" anchor="t">
            <a:normAutofit/>
          </a:bodyPr>
          <a:lstStyle/>
          <a:p>
            <a:pPr>
              <a:lnSpc>
                <a:spcPts val="1540"/>
              </a:lnSpc>
            </a:pPr>
            <a:r>
              <a:rPr lang="en-US" sz="1100" b="1" kern="0" spc="50" dirty="0">
                <a:solidFill>
                  <a:srgbClr val="8FA6CC"/>
                </a:solidFill>
                <a:latin typeface="IBM Plex Sans" pitchFamily="34" charset="0"/>
              </a:rPr>
              <a:t>RETURNED</a:t>
            </a:r>
          </a:p>
        </p:txBody>
      </p:sp>
      <p:sp>
        <p:nvSpPr>
          <p:cNvPr id="12" name="Text 10"/>
          <p:cNvSpPr/>
          <p:nvPr/>
        </p:nvSpPr>
        <p:spPr>
          <a:xfrm>
            <a:off x="8161893" y="2269489"/>
            <a:ext cx="310453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chemeClr val="bg1"/>
                </a:solidFill>
                <a:latin typeface="IBM Plex Sans" pitchFamily="34" charset="0"/>
                <a:ea typeface="IBM Plex Sans" pitchFamily="34" charset="-122"/>
                <a:cs typeface="IBM Plex Sans" pitchFamily="34" charset="-120"/>
              </a:rPr>
              <a:t>1,099 </a:t>
            </a:r>
            <a:r>
              <a:rPr lang="en-US" sz="2200" b="1" dirty="0">
                <a:solidFill>
                  <a:srgbClr val="C3D2EA"/>
                </a:solidFill>
                <a:latin typeface="IBM Plex Sans" pitchFamily="34" charset="0"/>
              </a:rPr>
              <a:t>(6.11%)</a:t>
            </a:r>
          </a:p>
        </p:txBody>
      </p:sp>
      <p:sp>
        <p:nvSpPr>
          <p:cNvPr id="13" name="Text 11"/>
          <p:cNvSpPr/>
          <p:nvPr/>
        </p:nvSpPr>
        <p:spPr>
          <a:xfrm>
            <a:off x="812800" y="3602357"/>
            <a:ext cx="10883392"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Cancellation Rate by Category</a:t>
            </a:r>
            <a:endParaRPr lang="en-US" sz="1300" dirty="0"/>
          </a:p>
        </p:txBody>
      </p:sp>
      <p:sp>
        <p:nvSpPr>
          <p:cNvPr id="14" name="Text 12"/>
          <p:cNvSpPr/>
          <p:nvPr/>
        </p:nvSpPr>
        <p:spPr>
          <a:xfrm>
            <a:off x="812800" y="3938907"/>
            <a:ext cx="1320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Sports</a:t>
            </a:r>
            <a:endParaRPr lang="en-US" sz="1100" dirty="0"/>
          </a:p>
        </p:txBody>
      </p:sp>
      <p:sp>
        <p:nvSpPr>
          <p:cNvPr id="15" name="Shape 13"/>
          <p:cNvSpPr/>
          <p:nvPr/>
        </p:nvSpPr>
        <p:spPr>
          <a:xfrm>
            <a:off x="2184400" y="3935096"/>
            <a:ext cx="8458200" cy="203200"/>
          </a:xfrm>
          <a:prstGeom prst="roundRect">
            <a:avLst>
              <a:gd name="adj" fmla="val 25000"/>
            </a:avLst>
          </a:prstGeom>
          <a:solidFill>
            <a:srgbClr val="EEF2F8"/>
          </a:solidFill>
          <a:ln/>
        </p:spPr>
        <p:txBody>
          <a:bodyPr/>
          <a:lstStyle/>
          <a:p>
            <a:endParaRPr lang="en-IN"/>
          </a:p>
        </p:txBody>
      </p:sp>
      <p:sp>
        <p:nvSpPr>
          <p:cNvPr id="16" name="Shape 14"/>
          <p:cNvSpPr/>
          <p:nvPr/>
        </p:nvSpPr>
        <p:spPr>
          <a:xfrm>
            <a:off x="2184400" y="3935096"/>
            <a:ext cx="8458200" cy="203200"/>
          </a:xfrm>
          <a:prstGeom prst="roundRect">
            <a:avLst>
              <a:gd name="adj" fmla="val 25000"/>
            </a:avLst>
          </a:prstGeom>
          <a:solidFill>
            <a:srgbClr val="E0A526"/>
          </a:solidFill>
          <a:ln/>
        </p:spPr>
        <p:txBody>
          <a:bodyPr/>
          <a:lstStyle/>
          <a:p>
            <a:endParaRPr lang="en-IN"/>
          </a:p>
        </p:txBody>
      </p:sp>
      <p:sp>
        <p:nvSpPr>
          <p:cNvPr id="17" name="Text 15"/>
          <p:cNvSpPr/>
          <p:nvPr/>
        </p:nvSpPr>
        <p:spPr>
          <a:xfrm>
            <a:off x="10693400" y="3938907"/>
            <a:ext cx="685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13.69%</a:t>
            </a:r>
            <a:endParaRPr lang="en-US" sz="1100" dirty="0"/>
          </a:p>
        </p:txBody>
      </p:sp>
      <p:sp>
        <p:nvSpPr>
          <p:cNvPr id="18" name="Text 16"/>
          <p:cNvSpPr/>
          <p:nvPr/>
        </p:nvSpPr>
        <p:spPr>
          <a:xfrm>
            <a:off x="812800" y="4243707"/>
            <a:ext cx="1320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Electronics</a:t>
            </a:r>
            <a:endParaRPr lang="en-US" sz="1100" dirty="0"/>
          </a:p>
        </p:txBody>
      </p:sp>
      <p:sp>
        <p:nvSpPr>
          <p:cNvPr id="19" name="Shape 17"/>
          <p:cNvSpPr/>
          <p:nvPr/>
        </p:nvSpPr>
        <p:spPr>
          <a:xfrm>
            <a:off x="2184400" y="4239896"/>
            <a:ext cx="8458200" cy="203200"/>
          </a:xfrm>
          <a:prstGeom prst="roundRect">
            <a:avLst>
              <a:gd name="adj" fmla="val 25000"/>
            </a:avLst>
          </a:prstGeom>
          <a:solidFill>
            <a:srgbClr val="EEF2F8"/>
          </a:solidFill>
          <a:ln/>
        </p:spPr>
        <p:txBody>
          <a:bodyPr/>
          <a:lstStyle/>
          <a:p>
            <a:endParaRPr lang="en-IN"/>
          </a:p>
        </p:txBody>
      </p:sp>
      <p:sp>
        <p:nvSpPr>
          <p:cNvPr id="20" name="Shape 18"/>
          <p:cNvSpPr/>
          <p:nvPr/>
        </p:nvSpPr>
        <p:spPr>
          <a:xfrm>
            <a:off x="2184400" y="4239896"/>
            <a:ext cx="571500" cy="203200"/>
          </a:xfrm>
          <a:prstGeom prst="roundRect">
            <a:avLst>
              <a:gd name="adj" fmla="val 25000"/>
            </a:avLst>
          </a:prstGeom>
          <a:solidFill>
            <a:srgbClr val="E0A526"/>
          </a:solidFill>
          <a:ln/>
        </p:spPr>
        <p:txBody>
          <a:bodyPr/>
          <a:lstStyle/>
          <a:p>
            <a:endParaRPr lang="en-IN"/>
          </a:p>
        </p:txBody>
      </p:sp>
      <p:sp>
        <p:nvSpPr>
          <p:cNvPr id="21" name="Text 19"/>
          <p:cNvSpPr/>
          <p:nvPr/>
        </p:nvSpPr>
        <p:spPr>
          <a:xfrm>
            <a:off x="10693400" y="4243707"/>
            <a:ext cx="685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12.34%</a:t>
            </a:r>
            <a:endParaRPr lang="en-US" sz="1100" dirty="0"/>
          </a:p>
        </p:txBody>
      </p:sp>
      <p:sp>
        <p:nvSpPr>
          <p:cNvPr id="22" name="Text 20"/>
          <p:cNvSpPr/>
          <p:nvPr/>
        </p:nvSpPr>
        <p:spPr>
          <a:xfrm>
            <a:off x="812800" y="4548507"/>
            <a:ext cx="1320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Fashion</a:t>
            </a:r>
            <a:endParaRPr lang="en-US" sz="1100" dirty="0"/>
          </a:p>
        </p:txBody>
      </p:sp>
      <p:sp>
        <p:nvSpPr>
          <p:cNvPr id="23" name="Shape 21"/>
          <p:cNvSpPr/>
          <p:nvPr/>
        </p:nvSpPr>
        <p:spPr>
          <a:xfrm>
            <a:off x="2184400" y="4544696"/>
            <a:ext cx="8458200" cy="203200"/>
          </a:xfrm>
          <a:prstGeom prst="roundRect">
            <a:avLst>
              <a:gd name="adj" fmla="val 25000"/>
            </a:avLst>
          </a:prstGeom>
          <a:solidFill>
            <a:srgbClr val="EEF2F8"/>
          </a:solidFill>
          <a:ln/>
        </p:spPr>
        <p:txBody>
          <a:bodyPr/>
          <a:lstStyle/>
          <a:p>
            <a:endParaRPr lang="en-IN"/>
          </a:p>
        </p:txBody>
      </p:sp>
      <p:sp>
        <p:nvSpPr>
          <p:cNvPr id="24" name="Shape 22"/>
          <p:cNvSpPr/>
          <p:nvPr/>
        </p:nvSpPr>
        <p:spPr>
          <a:xfrm>
            <a:off x="2184400" y="4544696"/>
            <a:ext cx="565150" cy="203200"/>
          </a:xfrm>
          <a:prstGeom prst="roundRect">
            <a:avLst>
              <a:gd name="adj" fmla="val 25000"/>
            </a:avLst>
          </a:prstGeom>
          <a:solidFill>
            <a:srgbClr val="E0A526"/>
          </a:solidFill>
          <a:ln/>
        </p:spPr>
        <p:txBody>
          <a:bodyPr/>
          <a:lstStyle/>
          <a:p>
            <a:endParaRPr lang="en-IN"/>
          </a:p>
        </p:txBody>
      </p:sp>
      <p:sp>
        <p:nvSpPr>
          <p:cNvPr id="25" name="Text 23"/>
          <p:cNvSpPr/>
          <p:nvPr/>
        </p:nvSpPr>
        <p:spPr>
          <a:xfrm>
            <a:off x="10693400" y="4548507"/>
            <a:ext cx="685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12.18%</a:t>
            </a:r>
            <a:endParaRPr lang="en-US" sz="1100" dirty="0"/>
          </a:p>
        </p:txBody>
      </p:sp>
      <p:sp>
        <p:nvSpPr>
          <p:cNvPr id="26" name="Text 24"/>
          <p:cNvSpPr/>
          <p:nvPr/>
        </p:nvSpPr>
        <p:spPr>
          <a:xfrm>
            <a:off x="812800" y="4853307"/>
            <a:ext cx="1320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Home &amp; Kitchen</a:t>
            </a:r>
            <a:endParaRPr lang="en-US" sz="1100" dirty="0"/>
          </a:p>
        </p:txBody>
      </p:sp>
      <p:sp>
        <p:nvSpPr>
          <p:cNvPr id="27" name="Shape 25"/>
          <p:cNvSpPr/>
          <p:nvPr/>
        </p:nvSpPr>
        <p:spPr>
          <a:xfrm>
            <a:off x="2184400" y="4849496"/>
            <a:ext cx="8458200" cy="203200"/>
          </a:xfrm>
          <a:prstGeom prst="roundRect">
            <a:avLst>
              <a:gd name="adj" fmla="val 25000"/>
            </a:avLst>
          </a:prstGeom>
          <a:solidFill>
            <a:srgbClr val="EEF2F8"/>
          </a:solidFill>
          <a:ln/>
        </p:spPr>
        <p:txBody>
          <a:bodyPr/>
          <a:lstStyle/>
          <a:p>
            <a:endParaRPr lang="en-IN"/>
          </a:p>
        </p:txBody>
      </p:sp>
      <p:sp>
        <p:nvSpPr>
          <p:cNvPr id="28" name="Shape 26"/>
          <p:cNvSpPr/>
          <p:nvPr/>
        </p:nvSpPr>
        <p:spPr>
          <a:xfrm>
            <a:off x="2184400" y="4849496"/>
            <a:ext cx="552450" cy="203200"/>
          </a:xfrm>
          <a:prstGeom prst="roundRect">
            <a:avLst>
              <a:gd name="adj" fmla="val 25000"/>
            </a:avLst>
          </a:prstGeom>
          <a:solidFill>
            <a:srgbClr val="E0A526"/>
          </a:solidFill>
          <a:ln/>
        </p:spPr>
        <p:txBody>
          <a:bodyPr/>
          <a:lstStyle/>
          <a:p>
            <a:endParaRPr lang="en-IN"/>
          </a:p>
        </p:txBody>
      </p:sp>
      <p:sp>
        <p:nvSpPr>
          <p:cNvPr id="29" name="Text 27"/>
          <p:cNvSpPr/>
          <p:nvPr/>
        </p:nvSpPr>
        <p:spPr>
          <a:xfrm>
            <a:off x="10693400" y="4853307"/>
            <a:ext cx="685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11.93%</a:t>
            </a:r>
            <a:endParaRPr lang="en-US" sz="1100" dirty="0"/>
          </a:p>
        </p:txBody>
      </p:sp>
      <p:sp>
        <p:nvSpPr>
          <p:cNvPr id="30" name="Text 28"/>
          <p:cNvSpPr/>
          <p:nvPr/>
        </p:nvSpPr>
        <p:spPr>
          <a:xfrm>
            <a:off x="812800" y="5158107"/>
            <a:ext cx="132080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Beauty</a:t>
            </a:r>
            <a:endParaRPr lang="en-US" sz="1100" dirty="0"/>
          </a:p>
        </p:txBody>
      </p:sp>
      <p:sp>
        <p:nvSpPr>
          <p:cNvPr id="31" name="Shape 29"/>
          <p:cNvSpPr/>
          <p:nvPr/>
        </p:nvSpPr>
        <p:spPr>
          <a:xfrm>
            <a:off x="2184400" y="5154296"/>
            <a:ext cx="8458200" cy="203200"/>
          </a:xfrm>
          <a:prstGeom prst="roundRect">
            <a:avLst>
              <a:gd name="adj" fmla="val 25000"/>
            </a:avLst>
          </a:prstGeom>
          <a:solidFill>
            <a:srgbClr val="EEF2F8"/>
          </a:solidFill>
          <a:ln/>
        </p:spPr>
        <p:txBody>
          <a:bodyPr/>
          <a:lstStyle/>
          <a:p>
            <a:endParaRPr lang="en-IN"/>
          </a:p>
        </p:txBody>
      </p:sp>
      <p:sp>
        <p:nvSpPr>
          <p:cNvPr id="32" name="Shape 30"/>
          <p:cNvSpPr/>
          <p:nvPr/>
        </p:nvSpPr>
        <p:spPr>
          <a:xfrm>
            <a:off x="2184400" y="5154296"/>
            <a:ext cx="514350" cy="203200"/>
          </a:xfrm>
          <a:prstGeom prst="roundRect">
            <a:avLst>
              <a:gd name="adj" fmla="val 25000"/>
            </a:avLst>
          </a:prstGeom>
          <a:solidFill>
            <a:srgbClr val="E0A526"/>
          </a:solidFill>
          <a:ln/>
        </p:spPr>
        <p:txBody>
          <a:bodyPr/>
          <a:lstStyle/>
          <a:p>
            <a:endParaRPr lang="en-IN"/>
          </a:p>
        </p:txBody>
      </p:sp>
      <p:sp>
        <p:nvSpPr>
          <p:cNvPr id="33" name="Text 31"/>
          <p:cNvSpPr/>
          <p:nvPr/>
        </p:nvSpPr>
        <p:spPr>
          <a:xfrm>
            <a:off x="10693400" y="5158107"/>
            <a:ext cx="685800" cy="220980"/>
          </a:xfrm>
          <a:prstGeom prst="rect">
            <a:avLst/>
          </a:prstGeom>
          <a:noFill/>
          <a:ln/>
        </p:spPr>
        <p:txBody>
          <a:bodyPr wrap="square" lIns="0" tIns="0" rIns="0" bIns="0" rtlCol="0" anchor="t">
            <a:normAutofit/>
          </a:bodyPr>
          <a:lstStyle/>
          <a:p>
            <a:pPr marL="0" indent="0" algn="r">
              <a:lnSpc>
                <a:spcPts val="1540"/>
              </a:lnSpc>
              <a:buNone/>
            </a:pPr>
            <a:r>
              <a:rPr lang="en-US" sz="1100" dirty="0">
                <a:solidFill>
                  <a:srgbClr val="2D3B52"/>
                </a:solidFill>
                <a:latin typeface="IBM Plex Sans" pitchFamily="34" charset="0"/>
                <a:ea typeface="IBM Plex Sans" pitchFamily="34" charset="-122"/>
                <a:cs typeface="IBM Plex Sans" pitchFamily="34" charset="-120"/>
              </a:rPr>
              <a:t>11.07%</a:t>
            </a:r>
            <a:endParaRPr lang="en-US" sz="1100" dirty="0"/>
          </a:p>
        </p:txBody>
      </p:sp>
      <p:sp>
        <p:nvSpPr>
          <p:cNvPr id="34" name="Text 32"/>
          <p:cNvSpPr/>
          <p:nvPr/>
        </p:nvSpPr>
        <p:spPr>
          <a:xfrm>
            <a:off x="812800" y="6238239"/>
            <a:ext cx="41698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200" dirty="0"/>
          </a:p>
        </p:txBody>
      </p:sp>
      <p:sp>
        <p:nvSpPr>
          <p:cNvPr id="35" name="Text 33"/>
          <p:cNvSpPr/>
          <p:nvPr/>
        </p:nvSpPr>
        <p:spPr>
          <a:xfrm>
            <a:off x="11196320" y="6238239"/>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609600" y="6096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POWER BI DASHBOARD</a:t>
            </a:r>
            <a:endParaRPr lang="en-US" sz="1200" dirty="0"/>
          </a:p>
        </p:txBody>
      </p:sp>
      <p:sp>
        <p:nvSpPr>
          <p:cNvPr id="3" name="Text 1"/>
          <p:cNvSpPr>
            <a:spLocks noGrp="1"/>
          </p:cNvSpPr>
          <p:nvPr>
            <p:ph type="title"/>
          </p:nvPr>
        </p:nvSpPr>
        <p:spPr>
          <a:xfrm>
            <a:off x="609600" y="911861"/>
            <a:ext cx="11301984"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Rubik" pitchFamily="34" charset="0"/>
                <a:ea typeface="Rubik" pitchFamily="34" charset="-122"/>
                <a:cs typeface="Rubik" pitchFamily="34" charset="-120"/>
              </a:rPr>
              <a:t>Executive Overview &amp; Product Performance</a:t>
            </a:r>
            <a:endParaRPr lang="en-US" sz="2800" dirty="0"/>
          </a:p>
        </p:txBody>
      </p:sp>
      <p:sp>
        <p:nvSpPr>
          <p:cNvPr id="4" name="Shape 2"/>
          <p:cNvSpPr/>
          <p:nvPr/>
        </p:nvSpPr>
        <p:spPr>
          <a:xfrm>
            <a:off x="609600" y="1498600"/>
            <a:ext cx="5751671" cy="3302000"/>
          </a:xfrm>
          <a:prstGeom prst="roundRect">
            <a:avLst>
              <a:gd name="adj" fmla="val 3077"/>
            </a:avLst>
          </a:prstGeom>
          <a:solidFill>
            <a:srgbClr val="FFFFFF"/>
          </a:solidFill>
          <a:ln/>
        </p:spPr>
        <p:txBody>
          <a:bodyPr/>
          <a:lstStyle/>
          <a:p>
            <a:endParaRPr lang="en-IN"/>
          </a:p>
        </p:txBody>
      </p:sp>
      <p:sp>
        <p:nvSpPr>
          <p:cNvPr id="6" name="Shape 3"/>
          <p:cNvSpPr/>
          <p:nvPr/>
        </p:nvSpPr>
        <p:spPr>
          <a:xfrm>
            <a:off x="612775" y="1501775"/>
            <a:ext cx="5745321" cy="3295650"/>
          </a:xfrm>
          <a:prstGeom prst="roundRect">
            <a:avLst>
              <a:gd name="adj" fmla="val 2987"/>
            </a:avLst>
          </a:prstGeom>
          <a:noFill/>
          <a:ln w="6350">
            <a:solidFill>
              <a:srgbClr val="E2E6EC"/>
            </a:solidFill>
            <a:prstDash val="solid"/>
          </a:ln>
        </p:spPr>
        <p:txBody>
          <a:bodyPr/>
          <a:lstStyle/>
          <a:p>
            <a:endParaRPr lang="en-IN"/>
          </a:p>
        </p:txBody>
      </p:sp>
      <p:sp>
        <p:nvSpPr>
          <p:cNvPr id="7" name="Text 4"/>
          <p:cNvSpPr/>
          <p:nvPr/>
        </p:nvSpPr>
        <p:spPr>
          <a:xfrm>
            <a:off x="609600" y="5525199"/>
            <a:ext cx="5559425" cy="4165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4A5568"/>
                </a:solidFill>
                <a:latin typeface="IBM Plex Sans" pitchFamily="34" charset="0"/>
                <a:ea typeface="IBM Plex Sans" pitchFamily="34" charset="-122"/>
                <a:cs typeface="IBM Plex Sans" pitchFamily="34" charset="-120"/>
              </a:rPr>
              <a:t>KPI cards surface Total Sales, Orders, AOV and Customers at a glance, with a monthly trend line below.</a:t>
            </a:r>
            <a:endParaRPr lang="en-US" sz="1100" dirty="0"/>
          </a:p>
        </p:txBody>
      </p:sp>
      <p:sp>
        <p:nvSpPr>
          <p:cNvPr id="8" name="Shape 5"/>
          <p:cNvSpPr/>
          <p:nvPr/>
        </p:nvSpPr>
        <p:spPr>
          <a:xfrm>
            <a:off x="6184900" y="1498600"/>
            <a:ext cx="5751671" cy="3302000"/>
          </a:xfrm>
          <a:prstGeom prst="roundRect">
            <a:avLst>
              <a:gd name="adj" fmla="val 3077"/>
            </a:avLst>
          </a:prstGeom>
          <a:solidFill>
            <a:srgbClr val="FFFFFF"/>
          </a:solidFill>
          <a:ln/>
        </p:spPr>
        <p:txBody>
          <a:bodyPr/>
          <a:lstStyle/>
          <a:p>
            <a:endParaRPr lang="en-IN"/>
          </a:p>
        </p:txBody>
      </p:sp>
      <p:sp>
        <p:nvSpPr>
          <p:cNvPr id="10" name="Shape 6"/>
          <p:cNvSpPr/>
          <p:nvPr/>
        </p:nvSpPr>
        <p:spPr>
          <a:xfrm>
            <a:off x="6188075" y="1501775"/>
            <a:ext cx="5745321" cy="3295650"/>
          </a:xfrm>
          <a:prstGeom prst="roundRect">
            <a:avLst>
              <a:gd name="adj" fmla="val 2987"/>
            </a:avLst>
          </a:prstGeom>
          <a:noFill/>
          <a:ln w="6350">
            <a:solidFill>
              <a:srgbClr val="E2E6EC"/>
            </a:solidFill>
            <a:prstDash val="solid"/>
          </a:ln>
        </p:spPr>
        <p:txBody>
          <a:bodyPr/>
          <a:lstStyle/>
          <a:p>
            <a:endParaRPr lang="en-IN"/>
          </a:p>
        </p:txBody>
      </p:sp>
      <p:sp>
        <p:nvSpPr>
          <p:cNvPr id="11" name="Text 7"/>
          <p:cNvSpPr/>
          <p:nvPr/>
        </p:nvSpPr>
        <p:spPr>
          <a:xfrm>
            <a:off x="6361271" y="5525199"/>
            <a:ext cx="5559425" cy="4165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4A5568"/>
                </a:solidFill>
                <a:latin typeface="IBM Plex Sans" pitchFamily="34" charset="0"/>
                <a:ea typeface="IBM Plex Sans" pitchFamily="34" charset="-122"/>
                <a:cs typeface="IBM Plex Sans" pitchFamily="34" charset="-120"/>
              </a:rPr>
              <a:t>Drill from category share down to individual product rank, by sales value and by quantity sold.</a:t>
            </a:r>
            <a:endParaRPr lang="en-US" sz="1100" dirty="0"/>
          </a:p>
        </p:txBody>
      </p:sp>
      <p:sp>
        <p:nvSpPr>
          <p:cNvPr id="12" name="Text 8"/>
          <p:cNvSpPr/>
          <p:nvPr/>
        </p:nvSpPr>
        <p:spPr>
          <a:xfrm>
            <a:off x="609600" y="6281421"/>
            <a:ext cx="3822383"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100" dirty="0"/>
          </a:p>
        </p:txBody>
      </p:sp>
      <p:sp>
        <p:nvSpPr>
          <p:cNvPr id="13" name="Text 9"/>
          <p:cNvSpPr/>
          <p:nvPr/>
        </p:nvSpPr>
        <p:spPr>
          <a:xfrm>
            <a:off x="11414760" y="6281421"/>
            <a:ext cx="21844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94A6"/>
                </a:solidFill>
                <a:latin typeface="IBM Plex Sans" pitchFamily="34" charset="0"/>
                <a:ea typeface="IBM Plex Sans" pitchFamily="34" charset="-122"/>
                <a:cs typeface="IBM Plex Sans" pitchFamily="34" charset="-120"/>
              </a:rPr>
              <a:t>07</a:t>
            </a:r>
            <a:endParaRPr lang="en-US" sz="1100" dirty="0"/>
          </a:p>
        </p:txBody>
      </p:sp>
      <p:pic>
        <p:nvPicPr>
          <p:cNvPr id="15" name="Picture 14">
            <a:extLst>
              <a:ext uri="{FF2B5EF4-FFF2-40B4-BE49-F238E27FC236}">
                <a16:creationId xmlns:a16="http://schemas.microsoft.com/office/drawing/2014/main" id="{C551A17A-F9B5-15EA-3A8B-38E4B4487C72}"/>
              </a:ext>
            </a:extLst>
          </p:cNvPr>
          <p:cNvPicPr>
            <a:picLocks noChangeAspect="1"/>
          </p:cNvPicPr>
          <p:nvPr/>
        </p:nvPicPr>
        <p:blipFill>
          <a:blip r:embed="rId3"/>
          <a:stretch>
            <a:fillRect/>
          </a:stretch>
        </p:blipFill>
        <p:spPr>
          <a:xfrm>
            <a:off x="685292" y="1504949"/>
            <a:ext cx="5502215" cy="3851275"/>
          </a:xfrm>
          <a:prstGeom prst="rect">
            <a:avLst/>
          </a:prstGeom>
        </p:spPr>
      </p:pic>
      <p:pic>
        <p:nvPicPr>
          <p:cNvPr id="14" name="Picture 13">
            <a:extLst>
              <a:ext uri="{FF2B5EF4-FFF2-40B4-BE49-F238E27FC236}">
                <a16:creationId xmlns:a16="http://schemas.microsoft.com/office/drawing/2014/main" id="{C1A7F572-F1E1-6DCB-7BCC-0F0D5B2066CE}"/>
              </a:ext>
            </a:extLst>
          </p:cNvPr>
          <p:cNvPicPr>
            <a:picLocks noChangeAspect="1"/>
          </p:cNvPicPr>
          <p:nvPr/>
        </p:nvPicPr>
        <p:blipFill>
          <a:blip r:embed="rId4"/>
          <a:stretch>
            <a:fillRect/>
          </a:stretch>
        </p:blipFill>
        <p:spPr>
          <a:xfrm>
            <a:off x="6224972" y="1534884"/>
            <a:ext cx="5632731" cy="38213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609600" y="6096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POWER BI DASHBOARD</a:t>
            </a:r>
            <a:endParaRPr lang="en-US" sz="1200" dirty="0"/>
          </a:p>
        </p:txBody>
      </p:sp>
      <p:sp>
        <p:nvSpPr>
          <p:cNvPr id="3" name="Text 1"/>
          <p:cNvSpPr>
            <a:spLocks noGrp="1"/>
          </p:cNvSpPr>
          <p:nvPr>
            <p:ph type="title"/>
          </p:nvPr>
        </p:nvSpPr>
        <p:spPr>
          <a:xfrm>
            <a:off x="609600" y="911861"/>
            <a:ext cx="11301984"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Rubik" pitchFamily="34" charset="0"/>
                <a:ea typeface="Rubik" pitchFamily="34" charset="-122"/>
                <a:cs typeface="Rubik" pitchFamily="34" charset="-120"/>
              </a:rPr>
              <a:t>Customer &amp; Location Analysis</a:t>
            </a:r>
            <a:endParaRPr lang="en-US" sz="2800" dirty="0"/>
          </a:p>
        </p:txBody>
      </p:sp>
      <p:sp>
        <p:nvSpPr>
          <p:cNvPr id="4" name="Shape 2"/>
          <p:cNvSpPr/>
          <p:nvPr/>
        </p:nvSpPr>
        <p:spPr>
          <a:xfrm>
            <a:off x="609600" y="1498600"/>
            <a:ext cx="5751671" cy="3302000"/>
          </a:xfrm>
          <a:prstGeom prst="roundRect">
            <a:avLst>
              <a:gd name="adj" fmla="val 3077"/>
            </a:avLst>
          </a:prstGeom>
          <a:solidFill>
            <a:srgbClr val="FFFFFF"/>
          </a:solidFill>
          <a:ln/>
        </p:spPr>
        <p:txBody>
          <a:bodyPr/>
          <a:lstStyle/>
          <a:p>
            <a:endParaRPr lang="en-IN"/>
          </a:p>
        </p:txBody>
      </p:sp>
      <p:sp>
        <p:nvSpPr>
          <p:cNvPr id="6" name="Shape 3"/>
          <p:cNvSpPr/>
          <p:nvPr/>
        </p:nvSpPr>
        <p:spPr>
          <a:xfrm>
            <a:off x="612775" y="1501775"/>
            <a:ext cx="5745321" cy="3295650"/>
          </a:xfrm>
          <a:prstGeom prst="roundRect">
            <a:avLst>
              <a:gd name="adj" fmla="val 2987"/>
            </a:avLst>
          </a:prstGeom>
          <a:noFill/>
          <a:ln w="6350">
            <a:solidFill>
              <a:srgbClr val="E2E6EC"/>
            </a:solidFill>
            <a:prstDash val="solid"/>
          </a:ln>
        </p:spPr>
        <p:txBody>
          <a:bodyPr/>
          <a:lstStyle/>
          <a:p>
            <a:endParaRPr lang="en-IN"/>
          </a:p>
        </p:txBody>
      </p:sp>
      <p:sp>
        <p:nvSpPr>
          <p:cNvPr id="7" name="Text 4"/>
          <p:cNvSpPr/>
          <p:nvPr/>
        </p:nvSpPr>
        <p:spPr>
          <a:xfrm>
            <a:off x="609600" y="5398148"/>
            <a:ext cx="5559425" cy="416560"/>
          </a:xfrm>
          <a:prstGeom prst="rect">
            <a:avLst/>
          </a:prstGeom>
          <a:noFill/>
          <a:ln/>
        </p:spPr>
        <p:txBody>
          <a:bodyPr wrap="square" lIns="0" tIns="0" rIns="0" bIns="0" rtlCol="0" anchor="t">
            <a:normAutofit/>
          </a:bodyPr>
          <a:lstStyle/>
          <a:p>
            <a:pPr>
              <a:lnSpc>
                <a:spcPts val="1540"/>
              </a:lnSpc>
            </a:pPr>
            <a:r>
              <a:rPr lang="en-IN" sz="1100" dirty="0">
                <a:solidFill>
                  <a:srgbClr val="4A5568"/>
                </a:solidFill>
                <a:latin typeface="IBM Plex Sans" pitchFamily="34" charset="0"/>
              </a:rPr>
              <a:t>Regular customers drive the most sales and orders, mainly because the segment is larger. AOV is broadly similar across all three segments.</a:t>
            </a:r>
            <a:endParaRPr lang="en-US" sz="1100" dirty="0">
              <a:solidFill>
                <a:srgbClr val="4A5568"/>
              </a:solidFill>
              <a:latin typeface="IBM Plex Sans" pitchFamily="34" charset="0"/>
            </a:endParaRPr>
          </a:p>
        </p:txBody>
      </p:sp>
      <p:sp>
        <p:nvSpPr>
          <p:cNvPr id="8" name="Shape 5"/>
          <p:cNvSpPr/>
          <p:nvPr/>
        </p:nvSpPr>
        <p:spPr>
          <a:xfrm>
            <a:off x="6184900" y="1498600"/>
            <a:ext cx="5751671" cy="3302000"/>
          </a:xfrm>
          <a:prstGeom prst="roundRect">
            <a:avLst>
              <a:gd name="adj" fmla="val 3077"/>
            </a:avLst>
          </a:prstGeom>
          <a:solidFill>
            <a:srgbClr val="FFFFFF"/>
          </a:solidFill>
          <a:ln/>
        </p:spPr>
        <p:txBody>
          <a:bodyPr/>
          <a:lstStyle/>
          <a:p>
            <a:endParaRPr lang="en-IN"/>
          </a:p>
        </p:txBody>
      </p:sp>
      <p:sp>
        <p:nvSpPr>
          <p:cNvPr id="10" name="Shape 6"/>
          <p:cNvSpPr/>
          <p:nvPr/>
        </p:nvSpPr>
        <p:spPr>
          <a:xfrm>
            <a:off x="6188075" y="1501775"/>
            <a:ext cx="5745321" cy="3295650"/>
          </a:xfrm>
          <a:prstGeom prst="roundRect">
            <a:avLst>
              <a:gd name="adj" fmla="val 2987"/>
            </a:avLst>
          </a:prstGeom>
          <a:noFill/>
          <a:ln w="6350">
            <a:solidFill>
              <a:srgbClr val="E2E6EC"/>
            </a:solidFill>
            <a:prstDash val="solid"/>
          </a:ln>
        </p:spPr>
        <p:txBody>
          <a:bodyPr/>
          <a:lstStyle/>
          <a:p>
            <a:endParaRPr lang="en-IN"/>
          </a:p>
        </p:txBody>
      </p:sp>
      <p:sp>
        <p:nvSpPr>
          <p:cNvPr id="11" name="Text 7"/>
          <p:cNvSpPr/>
          <p:nvPr/>
        </p:nvSpPr>
        <p:spPr>
          <a:xfrm>
            <a:off x="6377146" y="5398148"/>
            <a:ext cx="5559425" cy="4165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4A5568"/>
                </a:solidFill>
                <a:latin typeface="IBM Plex Sans" pitchFamily="34" charset="0"/>
                <a:ea typeface="IBM Plex Sans" pitchFamily="34" charset="-122"/>
                <a:cs typeface="IBM Plex Sans" pitchFamily="34" charset="-120"/>
              </a:rPr>
              <a:t>Mumbai leads city sales; Sports shows the highest cancellation rate; discounts and orders filter by region.</a:t>
            </a:r>
            <a:endParaRPr lang="en-US" sz="1100" dirty="0"/>
          </a:p>
        </p:txBody>
      </p:sp>
      <p:sp>
        <p:nvSpPr>
          <p:cNvPr id="12" name="Text 8"/>
          <p:cNvSpPr/>
          <p:nvPr/>
        </p:nvSpPr>
        <p:spPr>
          <a:xfrm>
            <a:off x="609600" y="6281421"/>
            <a:ext cx="3822383"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100" dirty="0"/>
          </a:p>
        </p:txBody>
      </p:sp>
      <p:sp>
        <p:nvSpPr>
          <p:cNvPr id="13" name="Text 9"/>
          <p:cNvSpPr/>
          <p:nvPr/>
        </p:nvSpPr>
        <p:spPr>
          <a:xfrm>
            <a:off x="11414760" y="6281421"/>
            <a:ext cx="218440" cy="22098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8A94A6"/>
                </a:solidFill>
                <a:latin typeface="IBM Plex Sans" pitchFamily="34" charset="0"/>
                <a:ea typeface="IBM Plex Sans" pitchFamily="34" charset="-122"/>
                <a:cs typeface="IBM Plex Sans" pitchFamily="34" charset="-120"/>
              </a:rPr>
              <a:t>08</a:t>
            </a:r>
            <a:endParaRPr lang="en-US" sz="1100" dirty="0"/>
          </a:p>
        </p:txBody>
      </p:sp>
      <p:pic>
        <p:nvPicPr>
          <p:cNvPr id="15" name="Picture 14">
            <a:extLst>
              <a:ext uri="{FF2B5EF4-FFF2-40B4-BE49-F238E27FC236}">
                <a16:creationId xmlns:a16="http://schemas.microsoft.com/office/drawing/2014/main" id="{2557BFDA-83BA-C88D-16C8-F704D0D24442}"/>
              </a:ext>
            </a:extLst>
          </p:cNvPr>
          <p:cNvPicPr>
            <a:picLocks noChangeAspect="1"/>
          </p:cNvPicPr>
          <p:nvPr/>
        </p:nvPicPr>
        <p:blipFill>
          <a:blip r:embed="rId3"/>
          <a:stretch>
            <a:fillRect/>
          </a:stretch>
        </p:blipFill>
        <p:spPr>
          <a:xfrm>
            <a:off x="691641" y="1554196"/>
            <a:ext cx="5524001" cy="3709942"/>
          </a:xfrm>
          <a:prstGeom prst="rect">
            <a:avLst/>
          </a:prstGeom>
        </p:spPr>
      </p:pic>
      <p:pic>
        <p:nvPicPr>
          <p:cNvPr id="17" name="Picture 16">
            <a:extLst>
              <a:ext uri="{FF2B5EF4-FFF2-40B4-BE49-F238E27FC236}">
                <a16:creationId xmlns:a16="http://schemas.microsoft.com/office/drawing/2014/main" id="{5BC34B45-F6E1-B11B-C62D-C670136C397A}"/>
              </a:ext>
            </a:extLst>
          </p:cNvPr>
          <p:cNvPicPr>
            <a:picLocks noChangeAspect="1"/>
          </p:cNvPicPr>
          <p:nvPr/>
        </p:nvPicPr>
        <p:blipFill>
          <a:blip r:embed="rId4"/>
          <a:stretch>
            <a:fillRect/>
          </a:stretch>
        </p:blipFill>
        <p:spPr>
          <a:xfrm>
            <a:off x="6445898" y="1554196"/>
            <a:ext cx="5630916" cy="3709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19" name="Shape 12"/>
          <p:cNvSpPr/>
          <p:nvPr/>
        </p:nvSpPr>
        <p:spPr>
          <a:xfrm>
            <a:off x="7958614" y="3921764"/>
            <a:ext cx="3420507" cy="1920240"/>
          </a:xfrm>
          <a:prstGeom prst="roundRect">
            <a:avLst>
              <a:gd name="adj" fmla="val 5952"/>
            </a:avLst>
          </a:prstGeom>
          <a:solidFill>
            <a:srgbClr val="EEF2F8"/>
          </a:solidFill>
          <a:ln/>
        </p:spPr>
        <p:txBody>
          <a:bodyPr/>
          <a:lstStyle/>
          <a:p>
            <a:endParaRPr lang="en-IN"/>
          </a:p>
        </p:txBody>
      </p:sp>
      <p:pic>
        <p:nvPicPr>
          <p:cNvPr id="25" name="Image 4" descr="Warning">
            <a:extLst>
              <a:ext uri="{FF2B5EF4-FFF2-40B4-BE49-F238E27FC236}">
                <a16:creationId xmlns:a16="http://schemas.microsoft.com/office/drawing/2014/main" id="{B5916C93-BFFC-A270-235C-49D5B6202EA2}"/>
              </a:ext>
            </a:extLst>
          </p:cNvPr>
          <p:cNvPicPr>
            <a:picLocks noChangeAspect="1"/>
          </p:cNvPicPr>
          <p:nvPr/>
        </p:nvPicPr>
        <p:blipFill>
          <a:blip r:embed="rId3"/>
          <a:srcRect/>
          <a:stretch/>
        </p:blipFill>
        <p:spPr>
          <a:xfrm>
            <a:off x="8149114" y="4112264"/>
            <a:ext cx="404686" cy="404686"/>
          </a:xfrm>
          <a:prstGeom prst="rect">
            <a:avLst/>
          </a:prstGeom>
        </p:spPr>
      </p:pic>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INSIGHTS</a:t>
            </a:r>
            <a:endParaRPr lang="en-US" sz="1200" dirty="0"/>
          </a:p>
        </p:txBody>
      </p:sp>
      <p:sp>
        <p:nvSpPr>
          <p:cNvPr id="3" name="Text 1"/>
          <p:cNvSpPr>
            <a:spLocks noGrp="1"/>
          </p:cNvSpPr>
          <p:nvPr>
            <p:ph type="title"/>
          </p:nvPr>
        </p:nvSpPr>
        <p:spPr>
          <a:xfrm>
            <a:off x="812800" y="11277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Rubik" pitchFamily="34" charset="0"/>
                <a:ea typeface="Rubik" pitchFamily="34" charset="-122"/>
                <a:cs typeface="Rubik" pitchFamily="34" charset="-120"/>
              </a:rPr>
              <a:t>Key Findings</a:t>
            </a:r>
            <a:endParaRPr lang="en-US" sz="3200" dirty="0"/>
          </a:p>
        </p:txBody>
      </p:sp>
      <p:sp>
        <p:nvSpPr>
          <p:cNvPr id="4" name="Shape 2"/>
          <p:cNvSpPr/>
          <p:nvPr/>
        </p:nvSpPr>
        <p:spPr>
          <a:xfrm>
            <a:off x="812800" y="1849121"/>
            <a:ext cx="3420507" cy="1920240"/>
          </a:xfrm>
          <a:prstGeom prst="roundRect">
            <a:avLst>
              <a:gd name="adj" fmla="val 5952"/>
            </a:avLst>
          </a:prstGeom>
          <a:solidFill>
            <a:srgbClr val="EEF2F8"/>
          </a:solidFill>
          <a:ln/>
        </p:spPr>
        <p:txBody>
          <a:bodyPr/>
          <a:lstStyle/>
          <a:p>
            <a:endParaRPr lang="en-IN"/>
          </a:p>
        </p:txBody>
      </p:sp>
      <p:pic>
        <p:nvPicPr>
          <p:cNvPr id="5" name="Image 0" descr="Chart"/>
          <p:cNvPicPr>
            <a:picLocks noChangeAspect="1"/>
          </p:cNvPicPr>
          <p:nvPr/>
        </p:nvPicPr>
        <p:blipFill>
          <a:blip r:embed="rId4"/>
          <a:srcRect/>
          <a:stretch/>
        </p:blipFill>
        <p:spPr>
          <a:xfrm>
            <a:off x="1003300" y="2039621"/>
            <a:ext cx="440194" cy="440194"/>
          </a:xfrm>
          <a:prstGeom prst="rect">
            <a:avLst/>
          </a:prstGeom>
        </p:spPr>
      </p:pic>
      <p:sp>
        <p:nvSpPr>
          <p:cNvPr id="6" name="Text 3"/>
          <p:cNvSpPr/>
          <p:nvPr/>
        </p:nvSpPr>
        <p:spPr>
          <a:xfrm>
            <a:off x="1003300" y="2632218"/>
            <a:ext cx="3130692" cy="416560"/>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2D3B52"/>
                </a:solidFill>
                <a:latin typeface="IBM Plex Sans" pitchFamily="34" charset="0"/>
                <a:ea typeface="IBM Plex Sans" pitchFamily="34" charset="-122"/>
                <a:cs typeface="IBM Plex Sans" pitchFamily="34" charset="-120"/>
              </a:rPr>
              <a:t>₹</a:t>
            </a:r>
            <a:r>
              <a:rPr lang="en-US" sz="1200" dirty="0">
                <a:solidFill>
                  <a:srgbClr val="2D3B52"/>
                </a:solidFill>
                <a:latin typeface="IBM Plex Sans" pitchFamily="34" charset="0"/>
                <a:ea typeface="IBM Plex Sans" pitchFamily="34" charset="-122"/>
                <a:cs typeface="IBM Plex Sans" pitchFamily="34" charset="-120"/>
              </a:rPr>
              <a:t>10.05 Cr in total sales across 18,000 orders, at an AOV of ₹5,580.63</a:t>
            </a:r>
            <a:endParaRPr lang="en-US" sz="1200" dirty="0"/>
          </a:p>
        </p:txBody>
      </p:sp>
      <p:sp>
        <p:nvSpPr>
          <p:cNvPr id="7" name="Shape 4"/>
          <p:cNvSpPr/>
          <p:nvPr/>
        </p:nvSpPr>
        <p:spPr>
          <a:xfrm>
            <a:off x="4385707" y="1849121"/>
            <a:ext cx="3420507" cy="1920240"/>
          </a:xfrm>
          <a:prstGeom prst="roundRect">
            <a:avLst>
              <a:gd name="adj" fmla="val 5952"/>
            </a:avLst>
          </a:prstGeom>
          <a:solidFill>
            <a:srgbClr val="EEF2F8"/>
          </a:solidFill>
          <a:ln/>
        </p:spPr>
        <p:txBody>
          <a:bodyPr/>
          <a:lstStyle/>
          <a:p>
            <a:endParaRPr lang="en-IN"/>
          </a:p>
        </p:txBody>
      </p:sp>
      <p:pic>
        <p:nvPicPr>
          <p:cNvPr id="8" name="Image 1" descr="Star"/>
          <p:cNvPicPr>
            <a:picLocks noChangeAspect="1"/>
          </p:cNvPicPr>
          <p:nvPr/>
        </p:nvPicPr>
        <p:blipFill>
          <a:blip r:embed="rId5"/>
          <a:srcRect/>
          <a:stretch/>
        </p:blipFill>
        <p:spPr>
          <a:xfrm>
            <a:off x="4576206" y="2039620"/>
            <a:ext cx="408937" cy="408937"/>
          </a:xfrm>
          <a:prstGeom prst="rect">
            <a:avLst/>
          </a:prstGeom>
        </p:spPr>
      </p:pic>
      <p:sp>
        <p:nvSpPr>
          <p:cNvPr id="9" name="Text 5"/>
          <p:cNvSpPr/>
          <p:nvPr/>
        </p:nvSpPr>
        <p:spPr>
          <a:xfrm>
            <a:off x="4576207" y="2600961"/>
            <a:ext cx="3130692" cy="416560"/>
          </a:xfrm>
          <a:prstGeom prst="rect">
            <a:avLst/>
          </a:prstGeom>
          <a:noFill/>
          <a:ln/>
        </p:spPr>
        <p:txBody>
          <a:bodyPr wrap="square" lIns="0" tIns="0" rIns="0" bIns="0" rtlCol="0" anchor="t">
            <a:normAutofit/>
          </a:bodyPr>
          <a:lstStyle/>
          <a:p>
            <a:pPr marL="0" indent="0" algn="l">
              <a:lnSpc>
                <a:spcPts val="1540"/>
              </a:lnSpc>
              <a:buNone/>
            </a:pPr>
            <a:r>
              <a:rPr lang="en-US" sz="1200" dirty="0">
                <a:solidFill>
                  <a:srgbClr val="2D3B52"/>
                </a:solidFill>
                <a:latin typeface="IBM Plex Sans" pitchFamily="34" charset="0"/>
                <a:ea typeface="IBM Plex Sans" pitchFamily="34" charset="-122"/>
                <a:cs typeface="IBM Plex Sans" pitchFamily="34" charset="-120"/>
              </a:rPr>
              <a:t>Beauty and Fashion are the top-performing categories, each above ₹2.3 Cr</a:t>
            </a:r>
            <a:endParaRPr lang="en-US" sz="1200" dirty="0"/>
          </a:p>
        </p:txBody>
      </p:sp>
      <p:sp>
        <p:nvSpPr>
          <p:cNvPr id="10" name="Shape 6"/>
          <p:cNvSpPr/>
          <p:nvPr/>
        </p:nvSpPr>
        <p:spPr>
          <a:xfrm>
            <a:off x="7958614" y="1849121"/>
            <a:ext cx="3420507" cy="1920240"/>
          </a:xfrm>
          <a:prstGeom prst="roundRect">
            <a:avLst>
              <a:gd name="adj" fmla="val 5952"/>
            </a:avLst>
          </a:prstGeom>
          <a:solidFill>
            <a:srgbClr val="EEF2F8"/>
          </a:solidFill>
          <a:ln/>
        </p:spPr>
        <p:txBody>
          <a:bodyPr/>
          <a:lstStyle/>
          <a:p>
            <a:endParaRPr lang="en-IN"/>
          </a:p>
        </p:txBody>
      </p:sp>
      <p:pic>
        <p:nvPicPr>
          <p:cNvPr id="11" name="Image 2" descr="Activity"/>
          <p:cNvPicPr>
            <a:picLocks noChangeAspect="1"/>
          </p:cNvPicPr>
          <p:nvPr/>
        </p:nvPicPr>
        <p:blipFill>
          <a:blip r:embed="rId6"/>
          <a:srcRect/>
          <a:stretch/>
        </p:blipFill>
        <p:spPr>
          <a:xfrm>
            <a:off x="8149113" y="2039620"/>
            <a:ext cx="404687" cy="404687"/>
          </a:xfrm>
          <a:prstGeom prst="rect">
            <a:avLst/>
          </a:prstGeom>
        </p:spPr>
      </p:pic>
      <p:sp>
        <p:nvSpPr>
          <p:cNvPr id="12" name="Text 7"/>
          <p:cNvSpPr/>
          <p:nvPr/>
        </p:nvSpPr>
        <p:spPr>
          <a:xfrm>
            <a:off x="8149114" y="2596711"/>
            <a:ext cx="3130692" cy="416560"/>
          </a:xfrm>
          <a:prstGeom prst="rect">
            <a:avLst/>
          </a:prstGeom>
          <a:noFill/>
          <a:ln/>
        </p:spPr>
        <p:txBody>
          <a:bodyPr wrap="square" lIns="0" tIns="0" rIns="0" bIns="0" rtlCol="0" anchor="t">
            <a:normAutofit/>
          </a:bodyPr>
          <a:lstStyle/>
          <a:p>
            <a:pPr marL="0" indent="0" algn="l">
              <a:lnSpc>
                <a:spcPts val="1540"/>
              </a:lnSpc>
              <a:buNone/>
            </a:pPr>
            <a:r>
              <a:rPr lang="en-US" sz="1200" dirty="0">
                <a:solidFill>
                  <a:srgbClr val="2D3B52"/>
                </a:solidFill>
                <a:latin typeface="IBM Plex Sans" pitchFamily="34" charset="0"/>
                <a:ea typeface="IBM Plex Sans" pitchFamily="34" charset="-122"/>
                <a:cs typeface="IBM Plex Sans" pitchFamily="34" charset="-120"/>
              </a:rPr>
              <a:t>No sustained monthly trend — demand stays fairly stable across the year</a:t>
            </a:r>
            <a:endParaRPr lang="en-US" sz="1200" dirty="0"/>
          </a:p>
        </p:txBody>
      </p:sp>
      <p:sp>
        <p:nvSpPr>
          <p:cNvPr id="13" name="Shape 8"/>
          <p:cNvSpPr/>
          <p:nvPr/>
        </p:nvSpPr>
        <p:spPr>
          <a:xfrm>
            <a:off x="812800" y="3921764"/>
            <a:ext cx="3420507" cy="1920240"/>
          </a:xfrm>
          <a:prstGeom prst="roundRect">
            <a:avLst>
              <a:gd name="adj" fmla="val 5952"/>
            </a:avLst>
          </a:prstGeom>
          <a:solidFill>
            <a:srgbClr val="EEF2F8"/>
          </a:solidFill>
          <a:ln/>
        </p:spPr>
        <p:txBody>
          <a:bodyPr/>
          <a:lstStyle/>
          <a:p>
            <a:endParaRPr lang="en-IN"/>
          </a:p>
        </p:txBody>
      </p:sp>
      <p:pic>
        <p:nvPicPr>
          <p:cNvPr id="14" name="Image 3" descr="Globe"/>
          <p:cNvPicPr>
            <a:picLocks noChangeAspect="1"/>
          </p:cNvPicPr>
          <p:nvPr/>
        </p:nvPicPr>
        <p:blipFill>
          <a:blip r:embed="rId7"/>
          <a:srcRect/>
          <a:stretch/>
        </p:blipFill>
        <p:spPr>
          <a:xfrm>
            <a:off x="1003299" y="4112263"/>
            <a:ext cx="408937" cy="408937"/>
          </a:xfrm>
          <a:prstGeom prst="rect">
            <a:avLst/>
          </a:prstGeom>
        </p:spPr>
      </p:pic>
      <p:sp>
        <p:nvSpPr>
          <p:cNvPr id="15" name="Text 9"/>
          <p:cNvSpPr/>
          <p:nvPr/>
        </p:nvSpPr>
        <p:spPr>
          <a:xfrm>
            <a:off x="1003300" y="4673604"/>
            <a:ext cx="3130692" cy="416560"/>
          </a:xfrm>
          <a:prstGeom prst="rect">
            <a:avLst/>
          </a:prstGeom>
          <a:noFill/>
          <a:ln/>
        </p:spPr>
        <p:txBody>
          <a:bodyPr wrap="square" lIns="0" tIns="0" rIns="0" bIns="0" rtlCol="0" anchor="t">
            <a:normAutofit/>
          </a:bodyPr>
          <a:lstStyle/>
          <a:p>
            <a:pPr marL="0" indent="0" algn="l">
              <a:lnSpc>
                <a:spcPts val="1540"/>
              </a:lnSpc>
              <a:buNone/>
            </a:pPr>
            <a:r>
              <a:rPr lang="en-US" sz="1200" dirty="0">
                <a:solidFill>
                  <a:srgbClr val="2D3B52"/>
                </a:solidFill>
                <a:latin typeface="IBM Plex Sans" pitchFamily="34" charset="0"/>
                <a:ea typeface="IBM Plex Sans" pitchFamily="34" charset="-122"/>
                <a:cs typeface="IBM Plex Sans" pitchFamily="34" charset="-120"/>
              </a:rPr>
              <a:t>Mumbai, Chennai and Kolkata are the top three sales locations</a:t>
            </a:r>
            <a:endParaRPr lang="en-US" sz="1200" dirty="0"/>
          </a:p>
        </p:txBody>
      </p:sp>
      <p:sp>
        <p:nvSpPr>
          <p:cNvPr id="16" name="Shape 10"/>
          <p:cNvSpPr/>
          <p:nvPr/>
        </p:nvSpPr>
        <p:spPr>
          <a:xfrm>
            <a:off x="4385707" y="3921764"/>
            <a:ext cx="3420507" cy="1920240"/>
          </a:xfrm>
          <a:prstGeom prst="roundRect">
            <a:avLst>
              <a:gd name="adj" fmla="val 5952"/>
            </a:avLst>
          </a:prstGeom>
          <a:solidFill>
            <a:srgbClr val="EEF2F8"/>
          </a:solidFill>
          <a:ln/>
        </p:spPr>
        <p:txBody>
          <a:bodyPr/>
          <a:lstStyle/>
          <a:p>
            <a:endParaRPr lang="en-IN"/>
          </a:p>
        </p:txBody>
      </p:sp>
      <p:pic>
        <p:nvPicPr>
          <p:cNvPr id="17" name="Image 4" descr="Warning"/>
          <p:cNvPicPr>
            <a:picLocks noChangeAspect="1"/>
          </p:cNvPicPr>
          <p:nvPr/>
        </p:nvPicPr>
        <p:blipFill>
          <a:blip r:embed="rId3"/>
          <a:srcRect/>
          <a:stretch/>
        </p:blipFill>
        <p:spPr>
          <a:xfrm>
            <a:off x="4576207" y="4112264"/>
            <a:ext cx="408936" cy="408936"/>
          </a:xfrm>
          <a:prstGeom prst="rect">
            <a:avLst/>
          </a:prstGeom>
        </p:spPr>
      </p:pic>
      <p:sp>
        <p:nvSpPr>
          <p:cNvPr id="18" name="Text 11"/>
          <p:cNvSpPr/>
          <p:nvPr/>
        </p:nvSpPr>
        <p:spPr>
          <a:xfrm>
            <a:off x="4576207" y="4612644"/>
            <a:ext cx="3130692" cy="416560"/>
          </a:xfrm>
          <a:prstGeom prst="rect">
            <a:avLst/>
          </a:prstGeom>
          <a:noFill/>
          <a:ln/>
        </p:spPr>
        <p:txBody>
          <a:bodyPr wrap="square" lIns="0" tIns="0" rIns="0" bIns="0" rtlCol="0" anchor="t">
            <a:normAutofit/>
          </a:bodyPr>
          <a:lstStyle/>
          <a:p>
            <a:r>
              <a:rPr lang="en-IN" sz="1200" dirty="0"/>
              <a:t>Higher discount depth is associated with lower AOV.</a:t>
            </a:r>
            <a:endParaRPr lang="en-US" sz="1200" dirty="0"/>
          </a:p>
        </p:txBody>
      </p:sp>
      <p:sp>
        <p:nvSpPr>
          <p:cNvPr id="21" name="Text 13"/>
          <p:cNvSpPr/>
          <p:nvPr/>
        </p:nvSpPr>
        <p:spPr>
          <a:xfrm>
            <a:off x="8149114" y="4587242"/>
            <a:ext cx="3130692" cy="416560"/>
          </a:xfrm>
          <a:prstGeom prst="rect">
            <a:avLst/>
          </a:prstGeom>
          <a:noFill/>
          <a:ln/>
        </p:spPr>
        <p:txBody>
          <a:bodyPr wrap="square" lIns="0" tIns="0" rIns="0" bIns="0" rtlCol="0" anchor="t">
            <a:normAutofit/>
          </a:bodyPr>
          <a:lstStyle/>
          <a:p>
            <a:pPr marL="0" indent="0" algn="l">
              <a:lnSpc>
                <a:spcPts val="1540"/>
              </a:lnSpc>
              <a:buNone/>
            </a:pPr>
            <a:r>
              <a:rPr lang="en-US" sz="1200" dirty="0">
                <a:latin typeface="IBM Plex Sans" pitchFamily="34" charset="0"/>
                <a:ea typeface="IBM Plex Sans" pitchFamily="34" charset="-122"/>
                <a:cs typeface="IBM Plex Sans" pitchFamily="34" charset="-120"/>
              </a:rPr>
              <a:t>12.24% of orders are cancelled/returned — Sports has the highest rate at 13.69%</a:t>
            </a:r>
            <a:endParaRPr lang="en-US" sz="1200" dirty="0"/>
          </a:p>
        </p:txBody>
      </p:sp>
      <p:sp>
        <p:nvSpPr>
          <p:cNvPr id="22" name="Text 14"/>
          <p:cNvSpPr/>
          <p:nvPr/>
        </p:nvSpPr>
        <p:spPr>
          <a:xfrm>
            <a:off x="812800" y="6238242"/>
            <a:ext cx="41698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200" dirty="0"/>
          </a:p>
        </p:txBody>
      </p:sp>
      <p:sp>
        <p:nvSpPr>
          <p:cNvPr id="23" name="Text 15"/>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448734"/>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ED"/>
                </a:solidFill>
                <a:latin typeface="Rubik" pitchFamily="34" charset="0"/>
                <a:ea typeface="Rubik" pitchFamily="34" charset="-122"/>
                <a:cs typeface="Rubik" pitchFamily="34" charset="-120"/>
              </a:rPr>
              <a:t>RECOMMENDATIONS</a:t>
            </a:r>
            <a:endParaRPr lang="en-US" sz="1200" dirty="0"/>
          </a:p>
        </p:txBody>
      </p:sp>
      <p:sp>
        <p:nvSpPr>
          <p:cNvPr id="3" name="Text 1"/>
          <p:cNvSpPr>
            <a:spLocks noGrp="1"/>
          </p:cNvSpPr>
          <p:nvPr>
            <p:ph type="title"/>
          </p:nvPr>
        </p:nvSpPr>
        <p:spPr>
          <a:xfrm>
            <a:off x="812800" y="69352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Rubik" pitchFamily="34" charset="0"/>
                <a:ea typeface="Rubik" pitchFamily="34" charset="-122"/>
                <a:cs typeface="Rubik" pitchFamily="34" charset="-120"/>
              </a:rPr>
              <a:t>Business Recommendations</a:t>
            </a:r>
            <a:endParaRPr lang="en-US" sz="3200" dirty="0"/>
          </a:p>
        </p:txBody>
      </p:sp>
      <p:sp>
        <p:nvSpPr>
          <p:cNvPr id="19" name="Text 17"/>
          <p:cNvSpPr/>
          <p:nvPr/>
        </p:nvSpPr>
        <p:spPr>
          <a:xfrm>
            <a:off x="812800" y="6238242"/>
            <a:ext cx="416985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E-Commerce Sales &amp; Customer Analytics · Group 2</a:t>
            </a:r>
            <a:endParaRPr lang="en-US" sz="1200" dirty="0"/>
          </a:p>
        </p:txBody>
      </p:sp>
      <p:sp>
        <p:nvSpPr>
          <p:cNvPr id="20" name="Text 18"/>
          <p:cNvSpPr/>
          <p:nvPr/>
        </p:nvSpPr>
        <p:spPr>
          <a:xfrm>
            <a:off x="11196320" y="6238242"/>
            <a:ext cx="23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4A6"/>
                </a:solidFill>
                <a:latin typeface="IBM Plex Sans" pitchFamily="34" charset="0"/>
                <a:ea typeface="IBM Plex Sans" pitchFamily="34" charset="-122"/>
                <a:cs typeface="IBM Plex Sans" pitchFamily="34" charset="-120"/>
              </a:rPr>
              <a:t>10</a:t>
            </a:r>
            <a:endParaRPr lang="en-US" sz="1200" dirty="0"/>
          </a:p>
        </p:txBody>
      </p:sp>
      <p:graphicFrame>
        <p:nvGraphicFramePr>
          <p:cNvPr id="7" name="Table 6">
            <a:extLst>
              <a:ext uri="{FF2B5EF4-FFF2-40B4-BE49-F238E27FC236}">
                <a16:creationId xmlns:a16="http://schemas.microsoft.com/office/drawing/2014/main" id="{DA122B07-6ECE-0639-47BE-DD3FE699123D}"/>
              </a:ext>
            </a:extLst>
          </p:cNvPr>
          <p:cNvGraphicFramePr>
            <a:graphicFrameLocks noGrp="1"/>
          </p:cNvGraphicFramePr>
          <p:nvPr>
            <p:extLst>
              <p:ext uri="{D42A27DB-BD31-4B8C-83A1-F6EECF244321}">
                <p14:modId xmlns:p14="http://schemas.microsoft.com/office/powerpoint/2010/main" val="1044219024"/>
              </p:ext>
            </p:extLst>
          </p:nvPr>
        </p:nvGraphicFramePr>
        <p:xfrm>
          <a:off x="812800" y="1270000"/>
          <a:ext cx="10617201" cy="4639735"/>
        </p:xfrm>
        <a:graphic>
          <a:graphicData uri="http://schemas.openxmlformats.org/drawingml/2006/table">
            <a:tbl>
              <a:tblPr>
                <a:tableStyleId>{5C22544A-7EE6-4342-B048-85BDC9FD1C3A}</a:tableStyleId>
              </a:tblPr>
              <a:tblGrid>
                <a:gridCol w="2616200">
                  <a:extLst>
                    <a:ext uri="{9D8B030D-6E8A-4147-A177-3AD203B41FA5}">
                      <a16:colId xmlns:a16="http://schemas.microsoft.com/office/drawing/2014/main" val="438253458"/>
                    </a:ext>
                  </a:extLst>
                </a:gridCol>
                <a:gridCol w="3801533">
                  <a:extLst>
                    <a:ext uri="{9D8B030D-6E8A-4147-A177-3AD203B41FA5}">
                      <a16:colId xmlns:a16="http://schemas.microsoft.com/office/drawing/2014/main" val="2413185221"/>
                    </a:ext>
                  </a:extLst>
                </a:gridCol>
                <a:gridCol w="4199468">
                  <a:extLst>
                    <a:ext uri="{9D8B030D-6E8A-4147-A177-3AD203B41FA5}">
                      <a16:colId xmlns:a16="http://schemas.microsoft.com/office/drawing/2014/main" val="2167502359"/>
                    </a:ext>
                  </a:extLst>
                </a:gridCol>
              </a:tblGrid>
              <a:tr h="404324">
                <a:tc>
                  <a:txBody>
                    <a:bodyPr/>
                    <a:lstStyle/>
                    <a:p>
                      <a:pPr algn="ctr">
                        <a:buNone/>
                      </a:pPr>
                      <a:r>
                        <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rPr>
                        <a:t>Area</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buNone/>
                      </a:pPr>
                      <a:r>
                        <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rPr>
                        <a:t>Finding</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buNone/>
                      </a:pPr>
                      <a:r>
                        <a:rPr lang="en-IN" sz="1800" dirty="0">
                          <a:solidFill>
                            <a:schemeClr val="bg1"/>
                          </a:solidFill>
                          <a:latin typeface="Calibri" panose="020F0502020204030204" pitchFamily="34" charset="0"/>
                          <a:ea typeface="Calibri" panose="020F0502020204030204" pitchFamily="34" charset="0"/>
                          <a:cs typeface="Calibri" panose="020F0502020204030204" pitchFamily="34" charset="0"/>
                        </a:rPr>
                        <a:t>Recommendation</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871074845"/>
                  </a:ext>
                </a:extLst>
              </a:tr>
              <a:tr h="734138">
                <a:tc>
                  <a:txBody>
                    <a:bodyPr/>
                    <a:lstStyle/>
                    <a:p>
                      <a:pPr algn="ctr">
                        <a:buNone/>
                      </a:pPr>
                      <a:r>
                        <a:rPr lang="en-IN" sz="1400">
                          <a:latin typeface="Calibri" panose="020F0502020204030204" pitchFamily="34" charset="0"/>
                          <a:ea typeface="Calibri" panose="020F0502020204030204" pitchFamily="34" charset="0"/>
                          <a:cs typeface="Calibri" panose="020F0502020204030204" pitchFamily="34" charset="0"/>
                        </a:rPr>
                        <a:t>Products &amp; Categories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Beauty and Fashion generate the highest sales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Prioritize inventory, marketing, and promotions for high-performing categories and products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2980197"/>
                  </a:ext>
                </a:extLst>
              </a:tr>
              <a:tr h="734138">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Customer Segments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Regular customers generate the highest sales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Focus on customer retention and convert New customers into Regular customers through loyalty programs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5450370"/>
                  </a:ext>
                </a:extLst>
              </a:tr>
              <a:tr h="734138">
                <a:tc>
                  <a:txBody>
                    <a:bodyPr/>
                    <a:lstStyle/>
                    <a:p>
                      <a:pPr algn="ctr">
                        <a:buNone/>
                      </a:pPr>
                      <a:r>
                        <a:rPr lang="en-IN" sz="1400">
                          <a:latin typeface="Calibri" panose="020F0502020204030204" pitchFamily="34" charset="0"/>
                          <a:ea typeface="Calibri" panose="020F0502020204030204" pitchFamily="34" charset="0"/>
                          <a:cs typeface="Calibri" panose="020F0502020204030204" pitchFamily="34" charset="0"/>
                        </a:rPr>
                        <a:t>Locations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Mumbai has the highest sales, followed by Chennai</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Increase marketing and inventory investment in high-potential locations such as Mumbai and Chennai</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157774"/>
                  </a:ext>
                </a:extLst>
              </a:tr>
              <a:tr h="564721">
                <a:tc>
                  <a:txBody>
                    <a:bodyPr/>
                    <a:lstStyle/>
                    <a:p>
                      <a:pPr algn="ctr">
                        <a:buNone/>
                      </a:pPr>
                      <a:r>
                        <a:rPr lang="en-IN" sz="1400">
                          <a:latin typeface="Calibri" panose="020F0502020204030204" pitchFamily="34" charset="0"/>
                          <a:ea typeface="Calibri" panose="020F0502020204030204" pitchFamily="34" charset="0"/>
                          <a:cs typeface="Calibri" panose="020F0502020204030204" pitchFamily="34" charset="0"/>
                        </a:rPr>
                        <a:t>Discount Strategy</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Higher discounts are associated with lower AOV</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Use targeted and moderate discounts instead of excessive discounting</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3781296"/>
                  </a:ext>
                </a:extLst>
              </a:tr>
              <a:tr h="734138">
                <a:tc>
                  <a:txBody>
                    <a:bodyPr/>
                    <a:lstStyle/>
                    <a:p>
                      <a:pPr algn="ctr">
                        <a:buNone/>
                      </a:pPr>
                      <a:r>
                        <a:rPr lang="en-IN" sz="1400">
                          <a:latin typeface="Calibri" panose="020F0502020204030204" pitchFamily="34" charset="0"/>
                          <a:ea typeface="Calibri" panose="020F0502020204030204" pitchFamily="34" charset="0"/>
                          <a:cs typeface="Calibri" panose="020F0502020204030204" pitchFamily="34" charset="0"/>
                        </a:rPr>
                        <a:t>Underperforming Products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Sports category and Cricket Bat show relatively low sales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Review pricing, demand, product mix, and promotional strategies to improve performance</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9406456"/>
                  </a:ext>
                </a:extLst>
              </a:tr>
              <a:tr h="734138">
                <a:tc>
                  <a:txBody>
                    <a:bodyPr/>
                    <a:lstStyle/>
                    <a:p>
                      <a:pPr algn="ctr">
                        <a:buNone/>
                      </a:pPr>
                      <a:r>
                        <a:rPr lang="en-IN" sz="1400">
                          <a:latin typeface="Calibri" panose="020F0502020204030204" pitchFamily="34" charset="0"/>
                          <a:ea typeface="Calibri" panose="020F0502020204030204" pitchFamily="34" charset="0"/>
                          <a:cs typeface="Calibri" panose="020F0502020204030204" pitchFamily="34" charset="0"/>
                        </a:rPr>
                        <a:t>Order Value</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Quantity has a strong relationship with Net Sales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400" dirty="0">
                          <a:latin typeface="Calibri" panose="020F0502020204030204" pitchFamily="34" charset="0"/>
                          <a:ea typeface="Calibri" panose="020F0502020204030204" pitchFamily="34" charset="0"/>
                          <a:cs typeface="Calibri" panose="020F0502020204030204" pitchFamily="34" charset="0"/>
                        </a:rPr>
                        <a:t>Encourage larger basket sizes through bundles, cross-selling, and relevant product recommendations</a:t>
                      </a:r>
                    </a:p>
                  </a:txBody>
                  <a:tcPr marL="52850" marR="52850" marT="26425" marB="26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78625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4213D"/>
              </a:gs>
              <a:gs pos="60000">
                <a:srgbClr val="1C2E52"/>
              </a:gs>
              <a:gs pos="100000">
                <a:srgbClr val="0F2A4A"/>
              </a:gs>
            </a:gsLst>
            <a:lin ang="2700000" scaled="0"/>
          </a:gradFill>
          <a:ln/>
        </p:spPr>
        <p:txBody>
          <a:bodyPr/>
          <a:lstStyle/>
          <a:p>
            <a:endParaRPr lang="en-US" dirty="0">
              <a:latin typeface="Calibri" panose="020F0502020204030204" pitchFamily="34" charset="0"/>
              <a:ea typeface="Calibri" panose="020F0502020204030204" pitchFamily="34" charset="0"/>
              <a:cs typeface="Calibri" panose="020F0502020204030204" pitchFamily="34" charset="0"/>
            </a:endParaRPr>
          </a:p>
          <a:p>
            <a:r>
              <a:rPr lang="en-IN" sz="3600" dirty="0">
                <a:solidFill>
                  <a:schemeClr val="accent5"/>
                </a:solidFill>
                <a:latin typeface="Calibri" panose="020F0502020204030204" pitchFamily="34" charset="0"/>
                <a:ea typeface="Calibri" panose="020F0502020204030204" pitchFamily="34" charset="0"/>
                <a:cs typeface="Calibri" panose="020F0502020204030204" pitchFamily="34" charset="0"/>
              </a:rPr>
              <a:t>       </a:t>
            </a:r>
            <a:r>
              <a:rPr lang="en-IN" dirty="0">
                <a:solidFill>
                  <a:schemeClr val="accent5"/>
                </a:solidFill>
                <a:latin typeface="Calibri" panose="020F0502020204030204" pitchFamily="34" charset="0"/>
                <a:ea typeface="Calibri" panose="020F0502020204030204" pitchFamily="34" charset="0"/>
                <a:cs typeface="Calibri" panose="020F0502020204030204" pitchFamily="34" charset="0"/>
              </a:rPr>
              <a:t>CONCLUSION</a:t>
            </a:r>
          </a:p>
        </p:txBody>
      </p:sp>
      <p:sp>
        <p:nvSpPr>
          <p:cNvPr id="3" name="Text 1"/>
          <p:cNvSpPr/>
          <p:nvPr/>
        </p:nvSpPr>
        <p:spPr>
          <a:xfrm>
            <a:off x="812800" y="521974"/>
            <a:ext cx="10883392" cy="238760"/>
          </a:xfrm>
          <a:prstGeom prst="rect">
            <a:avLst/>
          </a:prstGeom>
          <a:noFill/>
          <a:ln/>
        </p:spPr>
        <p:txBody>
          <a:bodyPr wrap="square" lIns="0" tIns="0" rIns="0" bIns="0" rtlCol="0" anchor="t">
            <a:noAutofit/>
          </a:bodyPr>
          <a:lstStyle/>
          <a:p>
            <a:pPr marL="0" indent="0" algn="l">
              <a:lnSpc>
                <a:spcPts val="1680"/>
              </a:lnSpc>
              <a:buNone/>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2"/>
          <p:cNvSpPr>
            <a:spLocks noGrp="1"/>
          </p:cNvSpPr>
          <p:nvPr>
            <p:ph type="title"/>
          </p:nvPr>
        </p:nvSpPr>
        <p:spPr>
          <a:xfrm>
            <a:off x="812800" y="817432"/>
            <a:ext cx="9810750" cy="709503"/>
          </a:xfrm>
          <a:prstGeom prst="rect">
            <a:avLst/>
          </a:prstGeom>
          <a:noFill/>
          <a:ln/>
        </p:spPr>
        <p:txBody>
          <a:bodyPr wrap="square" lIns="0" tIns="0" rIns="0" bIns="0" rtlCol="0" anchor="t">
            <a:normAutofit/>
          </a:bodyPr>
          <a:lstStyle/>
          <a:p>
            <a:pPr marL="0" indent="0" algn="l">
              <a:lnSpc>
                <a:spcPts val="4370"/>
              </a:lnSpc>
              <a:buNone/>
            </a:pPr>
            <a:r>
              <a:rPr lang="en-US" sz="3200" b="1" i="0" dirty="0">
                <a:solidFill>
                  <a:srgbClr val="FBFBF8"/>
                </a:solidFill>
                <a:latin typeface="Calibri" panose="020F0502020204030204" pitchFamily="34" charset="0"/>
                <a:ea typeface="Calibri" panose="020F0502020204030204" pitchFamily="34" charset="0"/>
                <a:cs typeface="Calibri" panose="020F0502020204030204" pitchFamily="34" charset="0"/>
              </a:rPr>
              <a:t>From raw data to a decision-ready dashboard</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3"/>
          <p:cNvSpPr/>
          <p:nvPr/>
        </p:nvSpPr>
        <p:spPr>
          <a:xfrm>
            <a:off x="812800" y="1505244"/>
            <a:ext cx="10496550" cy="3725334"/>
          </a:xfrm>
          <a:prstGeom prst="rect">
            <a:avLst/>
          </a:prstGeom>
          <a:noFill/>
          <a:ln/>
        </p:spPr>
        <p:txBody>
          <a:bodyPr wrap="square" lIns="0" tIns="0" rIns="0" bIns="0" rtlCol="0" anchor="t">
            <a:normAutofit/>
          </a:bodyPr>
          <a:lstStyle/>
          <a:p>
            <a:pPr algn="just">
              <a:lnSpc>
                <a:spcPct val="150000"/>
              </a:lnSpc>
              <a:spcBef>
                <a:spcPts val="600"/>
              </a:spcBef>
              <a:spcAft>
                <a:spcPts val="600"/>
              </a:spcAft>
            </a:pPr>
            <a:r>
              <a:rPr lang="en-IN" sz="1600" dirty="0">
                <a:solidFill>
                  <a:srgbClr val="C3D2EA"/>
                </a:solidFill>
                <a:latin typeface="IBM Plex Sans" pitchFamily="34" charset="0"/>
              </a:rPr>
              <a:t>The analysis transformed raw e-commerce data into actionable business insights by combining data cleaning, SQL, Python, Excel, and Power BI. </a:t>
            </a:r>
          </a:p>
          <a:p>
            <a:pPr algn="just">
              <a:lnSpc>
                <a:spcPct val="150000"/>
              </a:lnSpc>
              <a:spcBef>
                <a:spcPts val="600"/>
              </a:spcBef>
              <a:spcAft>
                <a:spcPts val="600"/>
              </a:spcAft>
            </a:pPr>
            <a:r>
              <a:rPr lang="en-IN" sz="1600" dirty="0">
                <a:solidFill>
                  <a:srgbClr val="C3D2EA"/>
                </a:solidFill>
                <a:latin typeface="IBM Plex Sans" pitchFamily="34" charset="0"/>
              </a:rPr>
              <a:t>The findings show that sales are primarily driven by product demand, order quantity, customer behaviour, and location performance, while excessive discounting does not necessarily increase order value.</a:t>
            </a:r>
          </a:p>
          <a:p>
            <a:pPr algn="just">
              <a:lnSpc>
                <a:spcPct val="150000"/>
              </a:lnSpc>
              <a:spcBef>
                <a:spcPts val="600"/>
              </a:spcBef>
              <a:spcAft>
                <a:spcPts val="600"/>
              </a:spcAft>
            </a:pPr>
            <a:r>
              <a:rPr lang="en-IN" sz="1600" dirty="0">
                <a:solidFill>
                  <a:srgbClr val="C3D2EA"/>
                </a:solidFill>
                <a:latin typeface="IBM Plex Sans" pitchFamily="34" charset="0"/>
              </a:rPr>
              <a:t>Management can improve business performance by strengthening high-performing products and markets, increasing customer retention, and adopting a more targeted discount strategy.</a:t>
            </a:r>
            <a:endParaRPr lang="en-US" sz="1600" dirty="0">
              <a:solidFill>
                <a:srgbClr val="C3D2EA"/>
              </a:solidFill>
              <a:latin typeface="IBM Plex Sans" pitchFamily="34" charset="0"/>
            </a:endParaRPr>
          </a:p>
          <a:p>
            <a:pPr marL="0" indent="0" algn="just">
              <a:lnSpc>
                <a:spcPct val="150000"/>
              </a:lnSpc>
              <a:spcBef>
                <a:spcPts val="600"/>
              </a:spcBef>
              <a:spcAft>
                <a:spcPts val="600"/>
              </a:spcAft>
              <a:buNone/>
            </a:pPr>
            <a:r>
              <a:rPr lang="en-US" sz="1600" dirty="0">
                <a:solidFill>
                  <a:srgbClr val="C3D2EA"/>
                </a:solidFill>
                <a:latin typeface="IBM Plex Sans" pitchFamily="34" charset="0"/>
                <a:ea typeface="IBM Plex Sans" pitchFamily="34" charset="-122"/>
                <a:cs typeface="IBM Plex Sans" pitchFamily="34" charset="-120"/>
              </a:rPr>
              <a:t>Overall, The project demonstrates how cleaned data can be transformed into actionable business decisions through Excel, SQL, Python and Power BI.</a:t>
            </a:r>
            <a:endParaRPr lang="en-US" sz="1600" dirty="0"/>
          </a:p>
        </p:txBody>
      </p:sp>
      <p:sp>
        <p:nvSpPr>
          <p:cNvPr id="6" name="Text 4"/>
          <p:cNvSpPr/>
          <p:nvPr/>
        </p:nvSpPr>
        <p:spPr>
          <a:xfrm>
            <a:off x="812800" y="5501642"/>
            <a:ext cx="464228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FA6CC"/>
                </a:solidFill>
                <a:latin typeface="IBM Plex Sans" pitchFamily="34" charset="0"/>
                <a:ea typeface="IBM Plex Sans" pitchFamily="34" charset="-122"/>
                <a:cs typeface="IBM Plex Sans" pitchFamily="34" charset="-120"/>
              </a:rPr>
              <a:t>THANK YOU</a:t>
            </a:r>
            <a:endParaRPr lang="en-US" sz="1200" dirty="0"/>
          </a:p>
        </p:txBody>
      </p:sp>
      <p:sp>
        <p:nvSpPr>
          <p:cNvPr id="7" name="Text 5"/>
          <p:cNvSpPr/>
          <p:nvPr/>
        </p:nvSpPr>
        <p:spPr>
          <a:xfrm>
            <a:off x="812800" y="5778500"/>
            <a:ext cx="540848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IBM Plex Sans" pitchFamily="34" charset="0"/>
                <a:ea typeface="IBM Plex Sans" pitchFamily="34" charset="-122"/>
                <a:cs typeface="IBM Plex Sans" pitchFamily="34" charset="-120"/>
              </a:rPr>
              <a:t>Adithyan PS  ·  Bency Bobas  ·  Bibin T S  ·  Dalu Alex</a:t>
            </a:r>
            <a:endParaRPr lang="en-US" sz="1500" dirty="0"/>
          </a:p>
        </p:txBody>
      </p:sp>
      <p:sp>
        <p:nvSpPr>
          <p:cNvPr id="8" name="Shape 6"/>
          <p:cNvSpPr/>
          <p:nvPr/>
        </p:nvSpPr>
        <p:spPr>
          <a:xfrm>
            <a:off x="9982200" y="5562600"/>
            <a:ext cx="1397000" cy="482600"/>
          </a:xfrm>
          <a:prstGeom prst="roundRect">
            <a:avLst>
              <a:gd name="adj" fmla="val 18421"/>
            </a:avLst>
          </a:prstGeom>
          <a:solidFill>
            <a:srgbClr val="FBFBF8"/>
          </a:solidFill>
          <a:ln/>
        </p:spPr>
        <p:txBody>
          <a:bodyPr/>
          <a:lstStyle/>
          <a:p>
            <a:endParaRPr lang="en-IN"/>
          </a:p>
        </p:txBody>
      </p:sp>
      <p:pic>
        <p:nvPicPr>
          <p:cNvPr id="9" name="Image 0" descr="NeST Digital logo"/>
          <p:cNvPicPr>
            <a:picLocks noChangeAspect="1"/>
          </p:cNvPicPr>
          <p:nvPr/>
        </p:nvPicPr>
        <p:blipFill>
          <a:blip r:embed="rId3"/>
          <a:srcRect l="-19453" r="-19453"/>
          <a:stretch/>
        </p:blipFill>
        <p:spPr>
          <a:xfrm>
            <a:off x="10052050" y="5632450"/>
            <a:ext cx="1257300" cy="342900"/>
          </a:xfrm>
          <a:prstGeom prst="rect">
            <a:avLst/>
          </a:prstGeom>
        </p:spPr>
      </p:pic>
    </p:spTree>
  </p:cSld>
  <p:clrMapOvr>
    <a:masterClrMapping/>
  </p:clrMapOvr>
</p:sld>
</file>

<file path=ppt/theme/theme1.xml><?xml version="1.0" encoding="utf-8"?>
<a:theme xmlns:a="http://schemas.openxmlformats.org/drawingml/2006/main" name="E-Commerce Sales &amp; Customer Analytics — Final Presentation">
  <a:themeElements>
    <a:clrScheme name="E-Commerce Sales &amp; Customer Analytics — Final Presentation">
      <a:dk1>
        <a:srgbClr val="14213D"/>
      </a:dk1>
      <a:lt1>
        <a:srgbClr val="FBFBF8"/>
      </a:lt1>
      <a:dk2>
        <a:srgbClr val="4E586C"/>
      </a:dk2>
      <a:lt2>
        <a:srgbClr val="E4E5E5"/>
      </a:lt2>
      <a:accent1>
        <a:srgbClr val="2F6FED"/>
      </a:accent1>
      <a:accent2>
        <a:srgbClr val="C3D2EA"/>
      </a:accent2>
      <a:accent3>
        <a:srgbClr val="E0A526"/>
      </a:accent3>
      <a:accent4>
        <a:srgbClr val="8FA6CC"/>
      </a:accent4>
      <a:accent5>
        <a:srgbClr val="6FA8F5"/>
      </a:accent5>
      <a:accent6>
        <a:srgbClr val="5A6B85"/>
      </a:accent6>
      <a:hlink>
        <a:srgbClr val="0563C1"/>
      </a:hlink>
      <a:folHlink>
        <a:srgbClr val="954F72"/>
      </a:folHlink>
    </a:clrScheme>
    <a:fontScheme name="E-Commerce Sales &amp; Customer Analytics — Final Present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1655</Words>
  <Application>Microsoft Office PowerPoint</Application>
  <PresentationFormat>Widescreen</PresentationFormat>
  <Paragraphs>249</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IBM Plex Sans</vt:lpstr>
      <vt:lpstr>Rubik</vt:lpstr>
      <vt:lpstr>E-Commerce Sales &amp; Customer Analytics — Final Presentation</vt:lpstr>
      <vt:lpstr>E-Commerce Sales &amp; Customer Analytics</vt:lpstr>
      <vt:lpstr>PowerPoint Presentation</vt:lpstr>
      <vt:lpstr>PowerPoint Presentation</vt:lpstr>
      <vt:lpstr>Dataset Cleaning Summary </vt:lpstr>
      <vt:lpstr>Overall Sales &amp; Category Performance</vt:lpstr>
      <vt:lpstr>Monthly Trend, Customer Segments &amp; Top Cities</vt:lpstr>
      <vt:lpstr>Product Popularity &amp; Discount Impact</vt:lpstr>
      <vt:lpstr>Cancellations &amp; Returns</vt:lpstr>
      <vt:lpstr>Executive Overview &amp; Product Performance</vt:lpstr>
      <vt:lpstr>Customer &amp; Location Analysis</vt:lpstr>
      <vt:lpstr>Key Findings</vt:lpstr>
      <vt:lpstr>Business Recommendations</vt:lpstr>
      <vt:lpstr>From raw data to a decision-ready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Sales &amp; Customer Analytics — Final Presentation</dc:title>
  <dc:subject/>
  <dc:creator>Bency Bobas</dc:creator>
  <cp:lastModifiedBy>Bibin T S</cp:lastModifiedBy>
  <cp:revision>17</cp:revision>
  <dcterms:created xsi:type="dcterms:W3CDTF">2026-10-06T06:05:25Z</dcterms:created>
  <dcterms:modified xsi:type="dcterms:W3CDTF">2026-10-09T13:49:36Z</dcterms:modified>
</cp:coreProperties>
</file>